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4.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3431652-636b-45f7-90c5-2ea0d88907ef}">
          <p14:sldIdLst>
            <p14:sldId id="256"/>
          </p14:sldIdLst>
        </p14:section>
        <p14:section name="Background" id="{093a9a29-b381-8674-3cdb-933b08e39a26}">
          <p14:sldIdLst>
            <p14:sldId id="257"/>
            <p14:sldId id="258"/>
          </p14:sldIdLst>
        </p14:section>
        <p14:section name="Problem" id="{990a0d68-27c5-e79a-1189-cfab53d21733}">
          <p14:sldIdLst>
            <p14:sldId id="259"/>
            <p14:sldId id="260"/>
          </p14:sldIdLst>
        </p14:section>
        <p14:section name="Proposed method" id="{8709b4be-16e6-77bb-a80f-93b3c618c78e}">
          <p14:sldIdLst>
            <p14:sldId id="261"/>
            <p14:sldId id="262"/>
            <p14:sldId id="263"/>
            <p14:sldId id="264"/>
            <p14:sldId id="265"/>
          </p14:sldIdLst>
        </p14:section>
        <p14:section name="Experiments" id="{0fa12e8b-1872-265f-6279-0fed41c44255}">
          <p14:sldIdLst>
            <p14:sldId id="266"/>
            <p14:sldId id="267"/>
            <p14:sldId id="268"/>
            <p14:sldId id="269"/>
          </p14:sldIdLst>
        </p14:section>
        <p14:section name="Conclusion" id="{b41830b2-49d1-2725-da3b-b0b47521a262}">
          <p14:sldIdLst>
            <p14:sldId id="270"/>
          </p14:sldIdLst>
        </p14:section>
        <p14:section name="Backup" id="{c2e22c3e-674b-4985-525f-75d65904eeeb}">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A1A1A"/>
                </a:solidFill>
                <a:latin typeface="+mn-lt"/>
              </a:defRPr>
            </a:pPr>
            <a:r>
              <a:rPr sz="1600" b="0" i="0" u="none" strike="noStrike">
                <a:solidFill>
                  <a:srgbClr val="1A1A1A"/>
                </a:solidFill>
                <a:latin typeface="+mn-lt"/>
              </a:rPr>
              <a:t>Reachable volume (m³, 0.05 m voxels)</a:t>
            </a:r>
          </a:p>
        </c:rich>
      </c:tx>
      <c:layout/>
      <c:overlay val="0"/>
    </c:title>
    <c:autoTitleDeleted val="0"/>
    <c:plotArea>
      <c:layout/>
      <c:barChart>
        <c:barDir val="col"/>
        <c:grouping val="stacked"/>
        <c:varyColors val="0"/>
        <c:ser>
          <c:idx val="0"/>
          <c:order val="0"/>
          <c:tx>
            <c:strRef>
              <c:f>Sheet1!$B$1</c:f>
              <c:strCache>
                <c:ptCount val="1"/>
                <c:pt idx="0">
                  <c:v>Arm only</c:v>
                </c:pt>
              </c:strCache>
            </c:strRef>
          </c:tx>
          <c:spPr>
            <a:solidFill>
              <a:srgbClr val="8A8F9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Arm only</c:v>
                  </c:pt>
                  <c:pt idx="1">
                    <c:v>Rail as DOF (ours)</c:v>
                  </c:pt>
                </c:lvl>
              </c:multiLvlStrCache>
            </c:multiLvlStrRef>
          </c:cat>
          <c:val>
            <c:numRef>
              <c:f>Sheet1!$B$2:$B$3</c:f>
              <c:numCache>
                <c:formatCode>General</c:formatCode>
                <c:ptCount val="2"/>
                <c:pt idx="0">
                  <c:v>1.92</c:v>
                </c:pt>
                <c:pt idx="1">
                  <c:v>0</c:v>
                </c:pt>
              </c:numCache>
            </c:numRef>
          </c:val>
        </c:ser>
        <c:ser>
          <c:idx val="1"/>
          <c:order val="1"/>
          <c:tx>
            <c:strRef>
              <c:f>Sheet1!$C$1</c:f>
              <c:strCache>
                <c:ptCount val="1"/>
                <c:pt idx="0">
                  <c:v>Rail as DOF (ours)</c:v>
                </c:pt>
              </c:strCache>
            </c:strRef>
          </c:tx>
          <c:spPr>
            <a:solidFill>
              <a:srgbClr val="1F3A5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Arm only</c:v>
                  </c:pt>
                  <c:pt idx="1">
                    <c:v>Rail as DOF (ours)</c:v>
                  </c:pt>
                </c:lvl>
              </c:multiLvlStrCache>
            </c:multiLvlStrRef>
          </c:cat>
          <c:val>
            <c:numRef>
              <c:f>Sheet1!$C$2:$C$3</c:f>
              <c:numCache>
                <c:formatCode>General</c:formatCode>
                <c:ptCount val="2"/>
                <c:pt idx="0">
                  <c:v>0</c:v>
                </c:pt>
                <c:pt idx="1">
                  <c:v>7.899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7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max val="9"/>
          <c:min val="0"/>
        </c:scaling>
        <c:delete val="0"/>
        <c:axPos val="l"/>
        <c:majorGridlines>
          <c:spPr>
            <a:ln w="6350" cap="flat">
              <a:solidFill>
                <a:srgbClr val="C9CED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C5C5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A1A1A"/>
                </a:solidFill>
                <a:latin typeface="+mn-lt"/>
              </a:defRPr>
            </a:pPr>
            <a:r>
              <a:rPr sz="1600" b="0" i="0" u="none" strike="noStrike">
                <a:solidFill>
                  <a:srgbClr val="1A1A1A"/>
                </a:solidFill>
                <a:latin typeface="+mn-lt"/>
              </a:rPr>
              <a:t>Reach-edge shortfall (m), lower is better</a:t>
            </a:r>
          </a:p>
        </c:rich>
      </c:tx>
      <c:layout/>
      <c:overlay val="0"/>
    </c:title>
    <c:autoTitleDeleted val="0"/>
    <c:plotArea>
      <c:layout/>
      <c:barChart>
        <c:barDir val="col"/>
        <c:grouping val="stacked"/>
        <c:varyColors val="0"/>
        <c:ser>
          <c:idx val="0"/>
          <c:order val="0"/>
          <c:tx>
            <c:strRef>
              <c:f>Sheet1!$B$1</c:f>
              <c:strCache>
                <c:ptCount val="1"/>
                <c:pt idx="0">
                  <c:v>Without seeding</c:v>
                </c:pt>
              </c:strCache>
            </c:strRef>
          </c:tx>
          <c:spPr>
            <a:solidFill>
              <a:srgbClr val="8A8F9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Without seeding</c:v>
                  </c:pt>
                  <c:pt idx="1">
                    <c:v>Boundary seeding (ours)</c:v>
                  </c:pt>
                </c:lvl>
              </c:multiLvlStrCache>
            </c:multiLvlStrRef>
          </c:cat>
          <c:val>
            <c:numRef>
              <c:f>Sheet1!$B$2:$B$3</c:f>
              <c:numCache>
                <c:formatCode>General</c:formatCode>
                <c:ptCount val="2"/>
                <c:pt idx="0">
                  <c:v>0.221</c:v>
                </c:pt>
                <c:pt idx="1">
                  <c:v>0</c:v>
                </c:pt>
              </c:numCache>
            </c:numRef>
          </c:val>
        </c:ser>
        <c:ser>
          <c:idx val="1"/>
          <c:order val="1"/>
          <c:tx>
            <c:strRef>
              <c:f>Sheet1!$C$1</c:f>
              <c:strCache>
                <c:ptCount val="1"/>
                <c:pt idx="0">
                  <c:v>Boundary seeding (ours)</c:v>
                </c:pt>
              </c:strCache>
            </c:strRef>
          </c:tx>
          <c:spPr>
            <a:solidFill>
              <a:srgbClr val="1F3A5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Without seeding</c:v>
                  </c:pt>
                  <c:pt idx="1">
                    <c:v>Boundary seeding (ours)</c:v>
                  </c:pt>
                </c:lvl>
              </c:multiLvlStrCache>
            </c:multiLvlStrRef>
          </c:cat>
          <c:val>
            <c:numRef>
              <c:f>Sheet1!$C$2:$C$3</c:f>
              <c:numCache>
                <c:formatCode>General</c:formatCode>
                <c:ptCount val="2"/>
                <c:pt idx="0">
                  <c:v>0</c:v>
                </c:pt>
                <c:pt idx="1">
                  <c:v>0.008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7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max val="0.25"/>
          <c:min val="0"/>
        </c:scaling>
        <c:delete val="0"/>
        <c:axPos val="l"/>
        <c:majorGridlines>
          <c:spPr>
            <a:ln w="6350" cap="flat">
              <a:solidFill>
                <a:srgbClr val="C9CED6"/>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C5C5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A1A1A"/>
                </a:solidFill>
                <a:latin typeface="+mn-lt"/>
              </a:defRPr>
            </a:pPr>
            <a:r>
              <a:rPr sz="1600" b="0" i="0" u="none" strike="noStrike">
                <a:solidFill>
                  <a:srgbClr val="1A1A1A"/>
                </a:solidFill>
                <a:latin typeface="+mn-lt"/>
              </a:rPr>
              <a:t>Energy saving of ours (%), higher is better</a:t>
            </a:r>
          </a:p>
        </c:rich>
      </c:tx>
      <c:layout/>
      <c:overlay val="0"/>
    </c:title>
    <c:autoTitleDeleted val="0"/>
    <c:plotArea>
      <c:layout/>
      <c:lineChart>
        <c:varyColors val="0"/>
        <c:ser>
          <c:idx val="0"/>
          <c:order val="0"/>
          <c:tx>
            <c:strRef>
              <c:f>Sheet1!$B$1</c:f>
              <c:strCache>
                <c:ptCount val="1"/>
                <c:pt idx="0">
                  <c:v>vs nearest</c:v>
                </c:pt>
              </c:strCache>
            </c:strRef>
          </c:tx>
          <c:spPr>
            <a:solidFill>
              <a:srgbClr val="1F3A5F"/>
            </a:solidFill>
            <a:ln w="38100" cap="flat">
              <a:solidFill>
                <a:srgbClr val="1F3A5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1F3A5F"/>
              </a:solidFill>
              <a:ln w="9525" cap="flat">
                <a:solidFill>
                  <a:srgbClr val="1F3A5F"/>
                </a:solidFill>
                <a:prstDash val="solid"/>
                <a:round/>
              </a:ln>
              <a:effectLst/>
            </c:spPr>
          </c:marker>
          <c:cat>
            <c:multiLvlStrRef>
              <c:f>Sheet1!$A$2:$A$11</c:f>
              <c:multiLvlStrCache>
                <c:ptCount val="10"/>
                <c:lvl>
                  <c:pt idx="0">
                    <c:v>0</c:v>
                  </c:pt>
                  <c:pt idx="1">
                    <c:v>0.05</c:v>
                  </c:pt>
                  <c:pt idx="2">
                    <c:v>0.10</c:v>
                  </c:pt>
                  <c:pt idx="3">
                    <c:v>0.15</c:v>
                  </c:pt>
                  <c:pt idx="4">
                    <c:v>0.20</c:v>
                  </c:pt>
                  <c:pt idx="5">
                    <c:v>0.25</c:v>
                  </c:pt>
                  <c:pt idx="6">
                    <c:v>0.30</c:v>
                  </c:pt>
                  <c:pt idx="7">
                    <c:v>0.35</c:v>
                  </c:pt>
                  <c:pt idx="8">
                    <c:v>0.40</c:v>
                  </c:pt>
                  <c:pt idx="9">
                    <c:v>0.45</c:v>
                  </c:pt>
                </c:lvl>
              </c:multiLvlStrCache>
            </c:multiLvlStrRef>
          </c:cat>
          <c:val>
            <c:numRef>
              <c:f>Sheet1!$B$2:$B$11</c:f>
              <c:numCache>
                <c:formatCode>General</c:formatCode>
                <c:ptCount val="10"/>
                <c:pt idx="0">
                  <c:v>-29.3</c:v>
                </c:pt>
                <c:pt idx="1">
                  <c:v>-6.9</c:v>
                </c:pt>
                <c:pt idx="2">
                  <c:v>1</c:v>
                </c:pt>
                <c:pt idx="3">
                  <c:v>5.1</c:v>
                </c:pt>
                <c:pt idx="4">
                  <c:v>7.5</c:v>
                </c:pt>
                <c:pt idx="5">
                  <c:v>9.1</c:v>
                </c:pt>
                <c:pt idx="6">
                  <c:v>10.3</c:v>
                </c:pt>
                <c:pt idx="7">
                  <c:v>11.2</c:v>
                </c:pt>
                <c:pt idx="8">
                  <c:v>11.9</c:v>
                </c:pt>
                <c:pt idx="9">
                  <c:v>12.4</c:v>
                </c:pt>
              </c:numCache>
            </c:numRef>
          </c:val>
          <c:smooth val="0"/>
        </c:ser>
        <c:ser>
          <c:idx val="1"/>
          <c:order val="1"/>
          <c:tx>
            <c:strRef>
              <c:f>Sheet1!$C$1</c:f>
              <c:strCache>
                <c:ptCount val="1"/>
                <c:pt idx="0">
                  <c:v>vs random</c:v>
                </c:pt>
              </c:strCache>
            </c:strRef>
          </c:tx>
          <c:spPr>
            <a:solidFill>
              <a:srgbClr val="8A8F98"/>
            </a:solidFill>
            <a:ln w="38100" cap="flat">
              <a:solidFill>
                <a:srgbClr val="8A8F9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8A8F98"/>
              </a:solidFill>
              <a:ln w="9525" cap="flat">
                <a:solidFill>
                  <a:srgbClr val="8A8F98"/>
                </a:solidFill>
                <a:prstDash val="solid"/>
                <a:round/>
              </a:ln>
              <a:effectLst/>
            </c:spPr>
          </c:marker>
          <c:cat>
            <c:multiLvlStrRef>
              <c:f>Sheet1!$A$2:$A$11</c:f>
              <c:multiLvlStrCache>
                <c:ptCount val="10"/>
                <c:lvl>
                  <c:pt idx="0">
                    <c:v>0</c:v>
                  </c:pt>
                  <c:pt idx="1">
                    <c:v>0.05</c:v>
                  </c:pt>
                  <c:pt idx="2">
                    <c:v>0.10</c:v>
                  </c:pt>
                  <c:pt idx="3">
                    <c:v>0.15</c:v>
                  </c:pt>
                  <c:pt idx="4">
                    <c:v>0.20</c:v>
                  </c:pt>
                  <c:pt idx="5">
                    <c:v>0.25</c:v>
                  </c:pt>
                  <c:pt idx="6">
                    <c:v>0.30</c:v>
                  </c:pt>
                  <c:pt idx="7">
                    <c:v>0.35</c:v>
                  </c:pt>
                  <c:pt idx="8">
                    <c:v>0.40</c:v>
                  </c:pt>
                  <c:pt idx="9">
                    <c:v>0.45</c:v>
                  </c:pt>
                </c:lvl>
              </c:multiLvlStrCache>
            </c:multiLvlStrRef>
          </c:cat>
          <c:val>
            <c:numRef>
              <c:f>Sheet1!$C$2:$C$11</c:f>
              <c:numCache>
                <c:formatCode>General</c:formatCode>
                <c:ptCount val="10"/>
                <c:pt idx="0">
                  <c:v>-34.7</c:v>
                </c:pt>
                <c:pt idx="1">
                  <c:v>-9.8</c:v>
                </c:pt>
                <c:pt idx="2">
                  <c:v>-1.2</c:v>
                </c:pt>
                <c:pt idx="3">
                  <c:v>3.1</c:v>
                </c:pt>
                <c:pt idx="4">
                  <c:v>5.7</c:v>
                </c:pt>
                <c:pt idx="5">
                  <c:v>7.4</c:v>
                </c:pt>
                <c:pt idx="6">
                  <c:v>8.7</c:v>
                </c:pt>
                <c:pt idx="7">
                  <c:v>9.7</c:v>
                </c:pt>
                <c:pt idx="8">
                  <c:v>10.4</c:v>
                </c:pt>
                <c:pt idx="9">
                  <c:v>11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1A1A1A"/>
                    </a:solidFill>
                    <a:latin typeface="+mn-lt"/>
                  </a:defRPr>
                </a:pPr>
                <a:r>
                  <a:rPr sz="1400" b="0" i="0" u="none" strike="noStrike">
                    <a:solidFill>
                      <a:srgbClr val="1A1A1A"/>
                    </a:solidFill>
                    <a:latin typeface="+mn-lt"/>
                  </a:rPr>
                  <a:t>rail friction coefficient μ (nominal 0.15)</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max val="20"/>
          <c:min val="-40"/>
        </c:scaling>
        <c:delete val="0"/>
        <c:axPos val="l"/>
        <c:majorGridlines>
          <c:spPr>
            <a:ln w="6350" cap="flat">
              <a:solidFill>
                <a:srgbClr val="C9CED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300" b="0" i="0" u="none" strike="noStrike">
                <a:solidFill>
                  <a:srgbClr val="5C5C5C"/>
                </a:solidFill>
                <a:latin typeface="+mn-lt"/>
              </a:defRPr>
            </a:pPr>
            <a:endParaRPr lang="en-US"/>
          </a:p>
        </c:txPr>
        <c:crossAx val="2094734554"/>
        <c:crosses val="autoZero"/>
        <c:crossBetween val="between"/>
        <c:majorUnit val="10"/>
      </c:valAx>
      <c:spPr>
        <a:noFill/>
        <a:ln>
          <a:noFill/>
        </a:ln>
        <a:effectLst/>
      </c:spPr>
    </c:plotArea>
    <c:legend>
      <c:legendPos val="b"/>
      <c:overlay val="0"/>
      <c:txPr>
        <a:bodyPr/>
        <a:lstStyle/>
        <a:p>
          <a:pPr>
            <a:defRPr sz="1400">
              <a:solidFill>
                <a:srgbClr val="1A1A1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A1A1A"/>
                </a:solidFill>
                <a:latin typeface="+mn-lt"/>
              </a:defRPr>
            </a:pPr>
            <a:r>
              <a:rPr sz="1600" b="0" i="0" u="none" strike="noStrike">
                <a:solidFill>
                  <a:srgbClr val="1A1A1A"/>
                </a:solidFill>
                <a:latin typeface="+mn-lt"/>
              </a:rPr>
              <a:t>Same-target difference, ours − nearest (J), 56 targets</a:t>
            </a:r>
          </a:p>
        </c:rich>
      </c:tx>
      <c:layout/>
      <c:overlay val="0"/>
    </c:title>
    <c:autoTitleDeleted val="0"/>
    <c:plotArea>
      <c:layout/>
      <c:barChart>
        <c:barDir val="col"/>
        <c:grouping val="clustered"/>
        <c:varyColors val="0"/>
        <c:ser>
          <c:idx val="0"/>
          <c:order val="0"/>
          <c:tx>
            <c:strRef>
              <c:f>Sheet1!$B$1</c:f>
              <c:strCache>
                <c:ptCount val="1"/>
                <c:pt idx="0">
                  <c:v>targets</c:v>
                </c:pt>
              </c:strCache>
            </c:strRef>
          </c:tx>
          <c:spPr>
            <a:solidFill>
              <a:srgbClr val="1F3A5F"/>
            </a:solidFill>
            <a:effectLst/>
          </c:spPr>
          <c:invertIfNegative val="0"/>
          <c:dLbls>
            <c:numFmt formatCode="#,##0" sourceLinked="0"/>
            <c:txPr>
              <a:bodyPr/>
              <a:lstStyle/>
              <a:p>
                <a:pPr>
                  <a:defRPr b="0" i="0" strike="noStrike" sz="1400" u="none">
                    <a:solidFill>
                      <a:srgbClr val="1A1A1A"/>
                    </a:solidFill>
                    <a:latin typeface="+mn-lt"/>
                  </a:defRPr>
                </a:pPr>
              </a:p>
            </c:txPr>
            <c:showLegendKey val="0"/>
            <c:showVal val="1"/>
            <c:showCatName val="0"/>
            <c:showSerName val="0"/>
            <c:showPercent val="0"/>
            <c:showBubbleSize val="0"/>
            <c:showLeaderLines val="0"/>
          </c:dLbls>
          <c:cat>
            <c:multiLvlStrRef>
              <c:f>Sheet1!$A$2:$A$8</c:f>
              <c:multiLvlStrCache>
                <c:ptCount val="7"/>
                <c:lvl>
                  <c:pt idx="0">
                    <c:v>&lt; −20</c:v>
                  </c:pt>
                  <c:pt idx="1">
                    <c:v>−20 to −10</c:v>
                  </c:pt>
                  <c:pt idx="2">
                    <c:v>−10 to −5</c:v>
                  </c:pt>
                  <c:pt idx="3">
                    <c:v>±5 (tie)</c:v>
                  </c:pt>
                  <c:pt idx="4">
                    <c:v>5 to 10</c:v>
                  </c:pt>
                  <c:pt idx="5">
                    <c:v>10 to 20</c:v>
                  </c:pt>
                  <c:pt idx="6">
                    <c:v>&gt; 20</c:v>
                  </c:pt>
                </c:lvl>
              </c:multiLvlStrCache>
            </c:multiLvlStrRef>
          </c:cat>
          <c:val>
            <c:numRef>
              <c:f>Sheet1!$B$2:$B$8</c:f>
              <c:numCache>
                <c:formatCode>General</c:formatCode>
                <c:ptCount val="7"/>
                <c:pt idx="0">
                  <c:v>5</c:v>
                </c:pt>
                <c:pt idx="1">
                  <c:v>11</c:v>
                </c:pt>
                <c:pt idx="2">
                  <c:v>4</c:v>
                </c:pt>
                <c:pt idx="3">
                  <c:v>26</c:v>
                </c:pt>
                <c:pt idx="4">
                  <c:v>6</c:v>
                </c:pt>
                <c:pt idx="5">
                  <c:v>2</c:v>
                </c:pt>
                <c:pt idx="6">
                  <c:v>2</c:v>
                </c:pt>
              </c:numCache>
            </c:numRef>
          </c:val>
        </c:ser>
        <c:dLbls>
          <c:numFmt formatCode="#,##0" sourceLinked="0"/>
          <c:txPr>
            <a:bodyPr/>
            <a:lstStyle/>
            <a:p>
              <a:pPr>
                <a:defRPr b="0" i="0" strike="noStrike" sz="1400" u="none">
                  <a:solidFill>
                    <a:srgbClr val="1A1A1A"/>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max val="30"/>
          <c:min val="0"/>
        </c:scaling>
        <c:delete val="0"/>
        <c:axPos val="l"/>
        <c:majorGridlines>
          <c:spPr>
            <a:ln w="6350" cap="flat">
              <a:solidFill>
                <a:srgbClr val="C9CED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C5C5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
[Video starts automatically.]
Hello, everyone. My name is Raditya Artha Rochmanto, from Tokyo Metropolitan University. Today I will present energy-aware arm and base selection for a dual-gantry, quad-arm ceiling robot.
Let me start with the result. In this video, four robot arms hang from two rails on the ceiling. We ask the robot to fetch an object. The robot decides two things at once. Which arm should move, and where should its rail go? It makes this choice to use the least energy. This is a simulation in Isaac Sim, shown at five times speed.
[Point to the three boxes.]
Here are the three key numbers. Using the rail as a degree of freedom gives a workspace about four times larger. Using all four arms raises planning success from sixty-three to ninety-three percent. And our energy-aware choice uses five percent less energy than choosing the nearest 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Why put a robot on the ceiling? There are three reasons.
First, our society is aging. So we need robots that can help at home, for example to fetch or tidy objects.
Second, homes are small and full of furniture. A mobile robot on the floor shares this space with the residents, and they must always avoid it.
Third, if we mount the robot on the ceiling, the floor stays free. And the robot can still reach the whole room from above.
[Point to the photo.]
This photo shows our real platform, in the Trailer Living Laboratory at our university.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
Here is the platform in more detail. On the left is the real robot. In the middle is its digital twin in Isaac Sim.
[Point to the boxed text.]
I want to be clear. All experiments in this paper are in simulation. The twin uses the same robot model as the real hardware, so the kinematics and joint limits are the same.
[Point to the table.]
The robot has two rails on the ceiling, at a height of two point zero five meters. Each rail slides two meters and also rotates. Each rail carries two Kinova Gen3 Lite arms. Each arm has six joints and about seventy-six centimeters of reach. So every arm has eight degrees of freedom, two from the rail and six from the arm.
Note that the two arms on one rail share the same carriage. The carriage carries about nineteen kilograms, including both arms. For sensing, we use only two RGB-D cameras in the ceiling corners.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
Now, the problem. Most objects can be reached by several arms, from several rail positions. So for every pick, the robot must answer two questions together. Question one: which arm? Question two: where should its base go?
The standard answer is to use the nearest arm. But the nearest arm ignores the cost of moving the base.
[Point to the grey box.]
Look at this example. For this target, the nearest rule chooses arm four. Its rail must travel one point one five meters, and the motion costs seventy-two joules. Moving the heavy base is a dominant cost. Also, if we use only one fixed arm, we can reach only sixty-three to sixty-five percent of the targets.
So our goal is to choose the arm and the base position together, for minimum energy.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How does previous work handle this? Capability maps, like the work of Zacharias, describe where one arm can reach. Base placement methods, like Reuleaux, MoMa-Pos and BaSeNet, find a good position for one mobile base. RoboPARA assigns tasks to several arms, but at the task level, without energy.
[Point to the boxed row.]
As you can see in the table, previous work places one arm well. It usually uses a map with a fixed base, and only a yes-or-no value per cell. No method chooses among several arms and scores the arm and the base by energy. This is the gap we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Our system has three subsystems.
[Point to block 1, then 2, then 3.]
Subsystem one is perception. It finds the object position from the cameras. Subsystem two is the base-aware capability map, built with Growing Neural Gas. We build it offline, one map per arm. Subsystem three is energy-aware selection. It uses the maps to rank the candidates by an energy cost, J. The winner gives us the arm and its rail position. Then MoveIt 2 plans and executes the motion.
This gives our three contributions. The energy cost J, the base-aware GNG map, and an evaluation in Isaac Sim against three baselines.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First, perception. We use two RGB-D cameras in opposite ceiling corners. So an object hidden from one camera is usually visible from the other.
YOLOE finds each object from a text query. We project the depth pixels into 3D, take the median point as the object center, and merge the two cameras. A simple tracker keeps the labels stable.
In our check over almost four thousand detections, detection was one hundred percent, with about two centimeters of error. The same depth images also build the octomap, a voxel grid map, which we use for collision avoidance.
[10-min version, say only this:] Perception uses two ceiling cameras and YOLOE to find the 3D position of each object. The same depth images build the collision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Subsystem two is the core of our method, the base-aware GNG capability map. We build it in three steps.
[Point to step 1.] Step one. We sample eighty thousand random configurations of all eight joints, including the rail. For each one, we compute the hand position and the manipulability. Manipulability tells us how freely the arm can move at that point.
[Point to step 2.] Step two. We train a Growing Neural Gas on these samples. Each node stores two things. A reachable position, and a full eight-joint configuration that reaches it, including the rail position. So one node already tells us both the arm posture and the base position.
[Point to step 3.] Step three is boundary seeding. Without it, the nodes move inward, and the map becomes smaller than the true workspace. So we first fix six hundred nodes on the real boundary, and then we grow the inside.
The final map for each arm has two thousand nine hundred fifteen nodes, about nine centimeters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Here is what the map gives us.
[Point to the left chart.] If we treat the rail as part of the arm, the reachable volume grows from one point nine to seven point nine cubic meters. That is about four times larger.
[Point to the right chart.] Boundary seeding reduces the error at the edge of the workspace from twenty-two centimeters to less than one centimeter. So we can trust the map, even near the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Subsystem three is the energy cost, J.
[Point to the equation.]
For each candidate, J adds up the rail linear travel, the rail rotation, the arm joint travel, and the remaining distance from the hand to the object. It subtracts manipulability, so a more dexterous posture is cheaper. Each term is divided by its median value, so all terms have a similar scale.
We do not set the weights by hand. We learn them by least-squares regression, on the measured energy of one hundred sixty-eight picks.
[Point to the box at the bottom.]
At first, the fit was very poor. R squared was only zero point zero five five. The reason is that in simulation, a horizontal rail costs no energy without friction. So we added a rail friction model, with an assumed friction coefficient of zero point one five, which is typical for a sliding guide. With friction, R squared rose to zero point eight five seven. And rail linear travel became the largest weight. This matches our idea that moving the base is the main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For each target, selection works like this. We collect the map nodes near the target from all four arms. We score each one with J and sort them. Then we try them in order, switching between arms, with inverse kinematics and a collision-free plan. The first valid plan is our decision, the arm and its rail position.
To test this, we used sixty target positions on a grid over both rails. We compared four policies. Our energy-aware method, the nearest arm, a random arm, and a single fixed arm. Planning took about zero point zero eight seconds per pick for every policy.
[10-min version, say only this:] We tested on sixty grid targets, against nearest, random and fixed-arm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Here are the main results.
[Point to the Success column.]
First, success rate. All three multi-arm policies reach ninety-three point three percent. A single fixed arm reaches only sixty-three to sixty-five percent. So using four arms is the big gain in reachability.
[Point to the boxed row.]
Second, energy. Among the multi-arm policies, our method has the lowest mean energy, forty-five point eight joules. That is five point one percent lower than nearest, and three point one percent lower than random. It also has the shortest rail travel. In same-target comparisons, our method wins fifty-seven to sixty-one percent of the time. This is a real majority, but not every time.
[Point to the grey box.]
Remember the example from the problem slide. For that target, our method chose arm three instead of arm four. The rail moved about half a meter less, and we saved thirty joules.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Our friction coefficient is an assumption, so we checked how sensitive the result is. We kept the same trajectories, and changed the friction from zero to three times the nominal value.
[Point to the dark line.]
The graph shows the energy saving of our method. The saving grows with friction. At the nominal value it is five percent, and at three times the friction it reaches twelve percent. Our method stays the best for any friction above about zero point one one.
[Point to the left end of the line.]
However, if the rail has almost no friction, moving the base is cheap, and the advantage disappears. So the next important step is to measure the real friction of our 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Finally, we tested the full pipeline in Isaac Sim with physics, from perception to execution. Seven objects, five trials each. All thirty-five picks succeeded, with no failures.
The same GNG map can also tell whether an object is reachable. One object, a soup can, is placed out of reach on purpose. The map classified all eight objects correctly, with no false positives.
Please note that these picks used ground-truth object positions from the simulator. Using YOLOE from end to end is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To conclude. First, our energy-aware selection chooses the arm and its full eight-joint configuration. It gives the lowest mean energy among the multi-arm policies. Second, our base-aware GNG map makes the workspace about four times larger, with less than one centimeter of error at the edge. Third, in Isaac Sim, we reached ninety-three percent planning success, and thirty-five out of thirty-five picks.
In the future, we will test the method on the real ceiling robot, measure the real rail friction, and use YOLOE in the full pipeline.
Thank you very much. I am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if someone asks why the median is not clearly better.]
Thank you, that is a good question. The energies are bimodal. About one third of the targets need little rail travel, and the rest need a long rail move. The median falls in the gap between these two groups, so it is fragile.
The paired comparison is more informative. Its median still favors our method, by about zero point three joules. Twenty-six of fifty-six targets are near ties. The mean gain comes from a few large savings. Five targets save more than twenty joules, and only two lose that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ONLY">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accent2"/>
                </a:solidFill>
              </a:rPr>
              <a:t>SCIS&amp;ISIS 2026  |  Energy-Aware Arm and Base Selection</a:t>
            </a:r>
            <a:endParaRPr lang="en-US" sz="1000" dirty="0"/>
          </a:p>
        </p:txBody>
      </p:sp>
      <p:sp>
        <p:nvSpPr>
          <p:cNvPr id="3" name="Text 1"/>
          <p:cNvSpPr/>
          <p:nvPr>
            <p:ph idx="101" type="title" hasCustomPrompt="1"/>
          </p:nvPr>
        </p:nvSpPr>
        <p:spPr>
          <a:xfrm>
            <a:off x="548640" y="320040"/>
            <a:ext cx="11094415" cy="731520"/>
          </a:xfrm>
          <a:prstGeom prst="rect">
            <a:avLst/>
          </a:prstGeom>
          <a:noFill/>
          <a:ln/>
        </p:spPr>
        <p:txBody>
          <a:bodyPr wrap="square" rtlCol="0"/>
          <a:lstStyle>
            <a:lvl1pPr indent="0" marL="0">
              <a:buNone/>
              <a:defRPr lang="en-US" sz="3200" b="1" dirty="0">
                <a:solidFill>
                  <a:schemeClr val="tx2"/>
                </a:solidFill>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5760720" cy="210312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5760720" cy="2103120"/>
          </a:xfrm>
          <a:prstGeom prst="rect">
            <a:avLst/>
          </a:prstGeom>
          <a:noFill/>
          <a:ln/>
        </p:spPr>
        <p:txBody>
          <a:bodyPr wrap="square" lIns="0" tIns="0" rIns="0" bIns="0" rtlCol="0" anchor="t"/>
          <a:lstStyle/>
          <a:p>
            <a:pPr algn="l" indent="0" marL="0">
              <a:buNone/>
            </a:pPr>
            <a:r>
              <a:rPr lang="en-US" sz="3000" b="1" dirty="0">
                <a:solidFill>
                  <a:schemeClr val="tx2"/>
                </a:solidFill>
              </a:rPr>
              <a:t>Energy-Aware Arm and Base Selection for a Dual-Gantry Quad-Arm Ceiling Robot Using a GNG Capability Map</a:t>
            </a:r>
            <a:endParaRPr lang="en-US" sz="3000" dirty="0"/>
          </a:p>
        </p:txBody>
      </p:sp>
      <p:sp>
        <p:nvSpPr>
          <p:cNvPr id="3" name="Text 1"/>
          <p:cNvSpPr txBox="1"/>
          <p:nvPr/>
        </p:nvSpPr>
        <p:spPr>
          <a:xfrm>
            <a:off x="548640" y="2743200"/>
            <a:ext cx="5760720" cy="822960"/>
          </a:xfrm>
          <a:prstGeom prst="rect">
            <a:avLst/>
          </a:prstGeom>
          <a:noFill/>
          <a:ln/>
        </p:spPr>
        <p:txBody>
          <a:bodyPr wrap="square" lIns="0" tIns="0" rIns="0" bIns="0" rtlCol="0" anchor="t"/>
          <a:lstStyle/>
          <a:p>
            <a:pPr indent="0" marL="0">
              <a:buNone/>
            </a:pPr>
            <a:r>
              <a:rPr lang="en-US" sz="1500" b="1" dirty="0">
                <a:solidFill>
                  <a:schemeClr val="tx1"/>
                </a:solidFill>
              </a:rPr>
              <a:t>Raditya Artha Rochmanto</a:t>
            </a:r>
            <a:endParaRPr lang="en-US" sz="1500" dirty="0"/>
          </a:p>
          <a:p>
            <a:pPr indent="0" marL="0">
              <a:buNone/>
            </a:pPr>
            <a:r>
              <a:rPr lang="en-US" sz="1500" dirty="0">
                <a:solidFill>
                  <a:schemeClr val="tx1"/>
                </a:solidFill>
              </a:rPr>
              <a:t>Achmad Fahrul Aji, Anhar Risnumawan, Teuku Zikri Fatahillah, Alfin Junaedy, Naoyuki Kubota</a:t>
            </a:r>
            <a:endParaRPr lang="en-US" sz="1500" dirty="0"/>
          </a:p>
        </p:txBody>
      </p:sp>
      <p:sp>
        <p:nvSpPr>
          <p:cNvPr id="4" name="Text 2"/>
          <p:cNvSpPr txBox="1"/>
          <p:nvPr/>
        </p:nvSpPr>
        <p:spPr>
          <a:xfrm>
            <a:off x="548640" y="3657600"/>
            <a:ext cx="5760720" cy="320040"/>
          </a:xfrm>
          <a:prstGeom prst="rect">
            <a:avLst/>
          </a:prstGeom>
          <a:noFill/>
          <a:ln/>
        </p:spPr>
        <p:txBody>
          <a:bodyPr wrap="square" lIns="0" tIns="0" rIns="0" bIns="0" rtlCol="0" anchor="t"/>
          <a:lstStyle/>
          <a:p>
            <a:pPr indent="0" marL="0">
              <a:buNone/>
            </a:pPr>
            <a:r>
              <a:rPr lang="en-US" sz="1300" dirty="0">
                <a:solidFill>
                  <a:schemeClr val="accent5"/>
                </a:solidFill>
              </a:rPr>
              <a:t>Graduate School of Systems Design, Tokyo Metropolitan University</a:t>
            </a:r>
            <a:endParaRPr lang="en-US" sz="1300" dirty="0"/>
          </a:p>
        </p:txBody>
      </p:sp>
      <p:sp>
        <p:nvSpPr>
          <p:cNvPr id="5" name="Text 3"/>
          <p:cNvSpPr txBox="1"/>
          <p:nvPr/>
        </p:nvSpPr>
        <p:spPr>
          <a:xfrm>
            <a:off x="548640" y="4023360"/>
            <a:ext cx="5760720" cy="320040"/>
          </a:xfrm>
          <a:prstGeom prst="rect">
            <a:avLst/>
          </a:prstGeom>
          <a:noFill/>
          <a:ln/>
        </p:spPr>
        <p:txBody>
          <a:bodyPr wrap="square" lIns="0" tIns="0" rIns="0" bIns="0" rtlCol="0" anchor="t"/>
          <a:lstStyle/>
          <a:p>
            <a:pPr indent="0" marL="0">
              <a:buNone/>
            </a:pPr>
            <a:r>
              <a:rPr lang="en-US" sz="1300" dirty="0">
                <a:solidFill>
                  <a:schemeClr val="accent5"/>
                </a:solidFill>
              </a:rPr>
              <a:t>SCIS&amp;ISIS 2026  |  Paper 282</a:t>
            </a:r>
            <a:endParaRPr lang="en-US" sz="1300" dirty="0"/>
          </a:p>
        </p:txBody>
      </p:sp>
      <p:pic>
        <p:nvPicPr>
          <p:cNvPr id="6" name="TMU logo" descr="/tmp/claude-1003/-srv-data-users-raditya-arm-WS-ceiling-arm/be5ae870-e296-4224-b9f7-0876347de272/scratchpad/deck/img/tmu_logo.jpg">    </p:cNvPr>
          <p:cNvPicPr>
            <a:picLocks noChangeAspect="1"/>
          </p:cNvPicPr>
          <p:nvPr/>
        </p:nvPicPr>
        <p:blipFill>
          <a:blip r:embed="rId1"/>
          <a:stretch>
            <a:fillRect/>
          </a:stretch>
        </p:blipFill>
        <p:spPr>
          <a:xfrm>
            <a:off x="548640" y="4892040"/>
            <a:ext cx="1783080" cy="1161288"/>
          </a:xfrm>
          <a:prstGeom prst="rect">
            <a:avLst/>
          </a:prstGeom>
        </p:spPr>
      </p:pic>
      <p:pic>
        <p:nvPicPr>
          <p:cNvPr id="7" name="VIDEO_PLACEHOLDER replace with demo video" descr="/tmp/claude-1003/-srv-data-users-raditya-arm-WS-ceiling-arm/be5ae870-e296-4224-b9f7-0876347de272/scratchpad/deck/img/fig5-pick_banana.png">    </p:cNvPr>
          <p:cNvPicPr>
            <a:picLocks noChangeAspect="1"/>
          </p:cNvPicPr>
          <p:nvPr/>
        </p:nvPicPr>
        <p:blipFill>
          <a:blip r:embed="rId2"/>
          <a:stretch>
            <a:fillRect/>
          </a:stretch>
        </p:blipFill>
        <p:spPr>
          <a:xfrm>
            <a:off x="6629400" y="502920"/>
            <a:ext cx="5010912" cy="3502152"/>
          </a:xfrm>
          <a:prstGeom prst="rect">
            <a:avLst/>
          </a:prstGeom>
        </p:spPr>
      </p:pic>
      <p:sp>
        <p:nvSpPr>
          <p:cNvPr id="8" name="Shape 4"/>
          <p:cNvSpPr/>
          <p:nvPr/>
        </p:nvSpPr>
        <p:spPr>
          <a:xfrm>
            <a:off x="8723376" y="1842516"/>
            <a:ext cx="822960" cy="822960"/>
          </a:xfrm>
          <a:prstGeom prst="ellipse">
            <a:avLst/>
          </a:prstGeom>
          <a:solidFill>
            <a:schemeClr val="tx1">
              <a:alpha val="65000"/>
            </a:schemeClr>
          </a:solidFill>
          <a:ln w="25400">
            <a:solidFill>
              <a:schemeClr val="bg1"/>
            </a:solidFill>
            <a:prstDash val="solid"/>
          </a:ln>
        </p:spPr>
      </p:sp>
      <p:sp>
        <p:nvSpPr>
          <p:cNvPr id="9" name="Shape 5"/>
          <p:cNvSpPr/>
          <p:nvPr/>
        </p:nvSpPr>
        <p:spPr>
          <a:xfrm rot="5400000">
            <a:off x="9015984" y="2052828"/>
            <a:ext cx="402336" cy="402336"/>
          </a:xfrm>
          <a:prstGeom prst="triangle">
            <a:avLst/>
          </a:prstGeom>
          <a:solidFill>
            <a:schemeClr val="bg1"/>
          </a:solidFill>
          <a:ln w="12700">
            <a:solidFill>
              <a:schemeClr val="bg1"/>
            </a:solidFill>
            <a:prstDash val="solid"/>
          </a:ln>
        </p:spPr>
      </p:sp>
      <p:sp>
        <p:nvSpPr>
          <p:cNvPr id="10" name="Text 6"/>
          <p:cNvSpPr txBox="1"/>
          <p:nvPr/>
        </p:nvSpPr>
        <p:spPr>
          <a:xfrm>
            <a:off x="6629400" y="4050792"/>
            <a:ext cx="5010912" cy="274320"/>
          </a:xfrm>
          <a:prstGeom prst="rect">
            <a:avLst/>
          </a:prstGeom>
          <a:noFill/>
          <a:ln/>
        </p:spPr>
        <p:txBody>
          <a:bodyPr wrap="square" lIns="0" tIns="0" rIns="0" bIns="0" rtlCol="0" anchor="t"/>
          <a:lstStyle/>
          <a:p>
            <a:pPr indent="0" marL="0">
              <a:buNone/>
            </a:pPr>
            <a:r>
              <a:rPr lang="en-US" sz="1100" i="1" dirty="0">
                <a:solidFill>
                  <a:schemeClr val="accent5"/>
                </a:solidFill>
              </a:rPr>
              <a:t>Energy-aware pick in Isaac Sim (replace this frame with the demo video)</a:t>
            </a:r>
            <a:endParaRPr lang="en-US" sz="1100" dirty="0"/>
          </a:p>
        </p:txBody>
      </p:sp>
      <p:sp>
        <p:nvSpPr>
          <p:cNvPr id="11" name="Shape 7"/>
          <p:cNvSpPr/>
          <p:nvPr/>
        </p:nvSpPr>
        <p:spPr>
          <a:xfrm>
            <a:off x="6629400" y="4434840"/>
            <a:ext cx="1554480" cy="1600200"/>
          </a:xfrm>
          <a:prstGeom prst="rect">
            <a:avLst/>
          </a:prstGeom>
          <a:solidFill>
            <a:schemeClr val="bg1"/>
          </a:solidFill>
          <a:ln w="19050">
            <a:solidFill>
              <a:schemeClr val="tx1"/>
            </a:solidFill>
            <a:prstDash val="solid"/>
          </a:ln>
        </p:spPr>
      </p:sp>
      <p:sp>
        <p:nvSpPr>
          <p:cNvPr id="12" name="Text 8"/>
          <p:cNvSpPr txBox="1"/>
          <p:nvPr/>
        </p:nvSpPr>
        <p:spPr>
          <a:xfrm>
            <a:off x="6629400" y="4526280"/>
            <a:ext cx="1554480" cy="685800"/>
          </a:xfrm>
          <a:prstGeom prst="rect">
            <a:avLst/>
          </a:prstGeom>
          <a:noFill/>
          <a:ln/>
        </p:spPr>
        <p:txBody>
          <a:bodyPr wrap="square" lIns="0" tIns="0" rIns="0" bIns="0" rtlCol="0" anchor="ctr"/>
          <a:lstStyle/>
          <a:p>
            <a:pPr algn="ctr" indent="0" marL="0">
              <a:buNone/>
            </a:pPr>
            <a:r>
              <a:rPr lang="en-US" sz="3400" b="1" dirty="0">
                <a:solidFill>
                  <a:schemeClr val="tx2"/>
                </a:solidFill>
              </a:rPr>
              <a:t>≈4×</a:t>
            </a:r>
            <a:endParaRPr lang="en-US" sz="3400" dirty="0"/>
          </a:p>
        </p:txBody>
      </p:sp>
      <p:sp>
        <p:nvSpPr>
          <p:cNvPr id="13" name="Text 9"/>
          <p:cNvSpPr txBox="1"/>
          <p:nvPr/>
        </p:nvSpPr>
        <p:spPr>
          <a:xfrm>
            <a:off x="6675120" y="5239512"/>
            <a:ext cx="1463040" cy="320040"/>
          </a:xfrm>
          <a:prstGeom prst="rect">
            <a:avLst/>
          </a:prstGeom>
          <a:noFill/>
          <a:ln/>
        </p:spPr>
        <p:txBody>
          <a:bodyPr wrap="square" lIns="0" tIns="0" rIns="0" bIns="0" rtlCol="0" anchor="t"/>
          <a:lstStyle/>
          <a:p>
            <a:pPr algn="ctr" indent="0" marL="0">
              <a:buNone/>
            </a:pPr>
            <a:r>
              <a:rPr lang="en-US" sz="1400" b="1" dirty="0">
                <a:solidFill>
                  <a:schemeClr val="tx1"/>
                </a:solidFill>
              </a:rPr>
              <a:t>workspace</a:t>
            </a:r>
            <a:endParaRPr lang="en-US" sz="1400" dirty="0"/>
          </a:p>
        </p:txBody>
      </p:sp>
      <p:sp>
        <p:nvSpPr>
          <p:cNvPr id="14" name="Text 10"/>
          <p:cNvSpPr txBox="1"/>
          <p:nvPr/>
        </p:nvSpPr>
        <p:spPr>
          <a:xfrm>
            <a:off x="6675120" y="5550408"/>
            <a:ext cx="1463040" cy="365760"/>
          </a:xfrm>
          <a:prstGeom prst="rect">
            <a:avLst/>
          </a:prstGeom>
          <a:noFill/>
          <a:ln/>
        </p:spPr>
        <p:txBody>
          <a:bodyPr wrap="square" lIns="0" tIns="0" rIns="0" bIns="0" rtlCol="0" anchor="t"/>
          <a:lstStyle/>
          <a:p>
            <a:pPr algn="ctr" indent="0" marL="0">
              <a:buNone/>
            </a:pPr>
            <a:r>
              <a:rPr lang="en-US" sz="1200" dirty="0">
                <a:solidFill>
                  <a:schemeClr val="accent5"/>
                </a:solidFill>
              </a:rPr>
              <a:t>rail treated as a DOF</a:t>
            </a:r>
            <a:endParaRPr lang="en-US" sz="1200" dirty="0"/>
          </a:p>
        </p:txBody>
      </p:sp>
      <p:sp>
        <p:nvSpPr>
          <p:cNvPr id="15" name="Shape 11"/>
          <p:cNvSpPr/>
          <p:nvPr/>
        </p:nvSpPr>
        <p:spPr>
          <a:xfrm>
            <a:off x="8357616" y="4434840"/>
            <a:ext cx="1554480" cy="1600200"/>
          </a:xfrm>
          <a:prstGeom prst="rect">
            <a:avLst/>
          </a:prstGeom>
          <a:solidFill>
            <a:schemeClr val="bg1"/>
          </a:solidFill>
          <a:ln w="19050">
            <a:solidFill>
              <a:schemeClr val="tx1"/>
            </a:solidFill>
            <a:prstDash val="solid"/>
          </a:ln>
        </p:spPr>
      </p:sp>
      <p:sp>
        <p:nvSpPr>
          <p:cNvPr id="16" name="Text 12"/>
          <p:cNvSpPr txBox="1"/>
          <p:nvPr/>
        </p:nvSpPr>
        <p:spPr>
          <a:xfrm>
            <a:off x="8357616" y="4526280"/>
            <a:ext cx="1554480" cy="685800"/>
          </a:xfrm>
          <a:prstGeom prst="rect">
            <a:avLst/>
          </a:prstGeom>
          <a:noFill/>
          <a:ln/>
        </p:spPr>
        <p:txBody>
          <a:bodyPr wrap="square" lIns="0" tIns="0" rIns="0" bIns="0" rtlCol="0" anchor="ctr"/>
          <a:lstStyle/>
          <a:p>
            <a:pPr algn="ctr" indent="0" marL="0">
              <a:buNone/>
            </a:pPr>
            <a:r>
              <a:rPr lang="en-US" sz="3400" b="1" dirty="0">
                <a:solidFill>
                  <a:schemeClr val="tx2"/>
                </a:solidFill>
              </a:rPr>
              <a:t>93.3%</a:t>
            </a:r>
            <a:endParaRPr lang="en-US" sz="3400" dirty="0"/>
          </a:p>
        </p:txBody>
      </p:sp>
      <p:sp>
        <p:nvSpPr>
          <p:cNvPr id="17" name="Text 13"/>
          <p:cNvSpPr txBox="1"/>
          <p:nvPr/>
        </p:nvSpPr>
        <p:spPr>
          <a:xfrm>
            <a:off x="8403336" y="5239512"/>
            <a:ext cx="1463040" cy="320040"/>
          </a:xfrm>
          <a:prstGeom prst="rect">
            <a:avLst/>
          </a:prstGeom>
          <a:noFill/>
          <a:ln/>
        </p:spPr>
        <p:txBody>
          <a:bodyPr wrap="square" lIns="0" tIns="0" rIns="0" bIns="0" rtlCol="0" anchor="t"/>
          <a:lstStyle/>
          <a:p>
            <a:pPr algn="ctr" indent="0" marL="0">
              <a:buNone/>
            </a:pPr>
            <a:r>
              <a:rPr lang="en-US" sz="1400" b="1" dirty="0">
                <a:solidFill>
                  <a:schemeClr val="tx1"/>
                </a:solidFill>
              </a:rPr>
              <a:t>plan success</a:t>
            </a:r>
            <a:endParaRPr lang="en-US" sz="1400" dirty="0"/>
          </a:p>
        </p:txBody>
      </p:sp>
      <p:sp>
        <p:nvSpPr>
          <p:cNvPr id="18" name="Text 14"/>
          <p:cNvSpPr txBox="1"/>
          <p:nvPr/>
        </p:nvSpPr>
        <p:spPr>
          <a:xfrm>
            <a:off x="8403336" y="5550408"/>
            <a:ext cx="1463040" cy="365760"/>
          </a:xfrm>
          <a:prstGeom prst="rect">
            <a:avLst/>
          </a:prstGeom>
          <a:noFill/>
          <a:ln/>
        </p:spPr>
        <p:txBody>
          <a:bodyPr wrap="square" lIns="0" tIns="0" rIns="0" bIns="0" rtlCol="0" anchor="t"/>
          <a:lstStyle/>
          <a:p>
            <a:pPr algn="ctr" indent="0" marL="0">
              <a:buNone/>
            </a:pPr>
            <a:r>
              <a:rPr lang="en-US" sz="1200" dirty="0">
                <a:solidFill>
                  <a:schemeClr val="accent5"/>
                </a:solidFill>
              </a:rPr>
              <a:t>vs 63–65% single arm</a:t>
            </a:r>
            <a:endParaRPr lang="en-US" sz="1200" dirty="0"/>
          </a:p>
        </p:txBody>
      </p:sp>
      <p:sp>
        <p:nvSpPr>
          <p:cNvPr id="19" name="Shape 15"/>
          <p:cNvSpPr/>
          <p:nvPr/>
        </p:nvSpPr>
        <p:spPr>
          <a:xfrm>
            <a:off x="10085832" y="4434840"/>
            <a:ext cx="1554480" cy="1600200"/>
          </a:xfrm>
          <a:prstGeom prst="rect">
            <a:avLst/>
          </a:prstGeom>
          <a:solidFill>
            <a:schemeClr val="bg1"/>
          </a:solidFill>
          <a:ln w="19050">
            <a:solidFill>
              <a:schemeClr val="tx1"/>
            </a:solidFill>
            <a:prstDash val="solid"/>
          </a:ln>
        </p:spPr>
      </p:sp>
      <p:sp>
        <p:nvSpPr>
          <p:cNvPr id="20" name="Text 16"/>
          <p:cNvSpPr txBox="1"/>
          <p:nvPr/>
        </p:nvSpPr>
        <p:spPr>
          <a:xfrm>
            <a:off x="10085832" y="4526280"/>
            <a:ext cx="1554480" cy="685800"/>
          </a:xfrm>
          <a:prstGeom prst="rect">
            <a:avLst/>
          </a:prstGeom>
          <a:noFill/>
          <a:ln/>
        </p:spPr>
        <p:txBody>
          <a:bodyPr wrap="square" lIns="0" tIns="0" rIns="0" bIns="0" rtlCol="0" anchor="ctr"/>
          <a:lstStyle/>
          <a:p>
            <a:pPr algn="ctr" indent="0" marL="0">
              <a:buNone/>
            </a:pPr>
            <a:r>
              <a:rPr lang="en-US" sz="3400" b="1" dirty="0">
                <a:solidFill>
                  <a:schemeClr val="tx2"/>
                </a:solidFill>
              </a:rPr>
              <a:t>−5.1%</a:t>
            </a:r>
            <a:endParaRPr lang="en-US" sz="3400" dirty="0"/>
          </a:p>
        </p:txBody>
      </p:sp>
      <p:sp>
        <p:nvSpPr>
          <p:cNvPr id="21" name="Text 17"/>
          <p:cNvSpPr txBox="1"/>
          <p:nvPr/>
        </p:nvSpPr>
        <p:spPr>
          <a:xfrm>
            <a:off x="10131552" y="5239512"/>
            <a:ext cx="1463040" cy="320040"/>
          </a:xfrm>
          <a:prstGeom prst="rect">
            <a:avLst/>
          </a:prstGeom>
          <a:noFill/>
          <a:ln/>
        </p:spPr>
        <p:txBody>
          <a:bodyPr wrap="square" lIns="0" tIns="0" rIns="0" bIns="0" rtlCol="0" anchor="t"/>
          <a:lstStyle/>
          <a:p>
            <a:pPr algn="ctr" indent="0" marL="0">
              <a:buNone/>
            </a:pPr>
            <a:r>
              <a:rPr lang="en-US" sz="1400" b="1" dirty="0">
                <a:solidFill>
                  <a:schemeClr val="tx1"/>
                </a:solidFill>
              </a:rPr>
              <a:t>mean energy</a:t>
            </a:r>
            <a:endParaRPr lang="en-US" sz="1400" dirty="0"/>
          </a:p>
        </p:txBody>
      </p:sp>
      <p:sp>
        <p:nvSpPr>
          <p:cNvPr id="22" name="Text 18"/>
          <p:cNvSpPr txBox="1"/>
          <p:nvPr/>
        </p:nvSpPr>
        <p:spPr>
          <a:xfrm>
            <a:off x="10131552" y="5550408"/>
            <a:ext cx="1463040" cy="365760"/>
          </a:xfrm>
          <a:prstGeom prst="rect">
            <a:avLst/>
          </a:prstGeom>
          <a:noFill/>
          <a:ln/>
        </p:spPr>
        <p:txBody>
          <a:bodyPr wrap="square" lIns="0" tIns="0" rIns="0" bIns="0" rtlCol="0" anchor="t"/>
          <a:lstStyle/>
          <a:p>
            <a:pPr algn="ctr" indent="0" marL="0">
              <a:buNone/>
            </a:pPr>
            <a:r>
              <a:rPr lang="en-US" sz="1200" dirty="0">
                <a:solidFill>
                  <a:schemeClr val="accent5"/>
                </a:solidFill>
              </a:rPr>
              <a:t>vs nearest-arm policy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chemeClr val="tx2"/>
                </a:solidFill>
              </a:rPr>
              <a:t>Why a Ceiling-Mounted Robot at Home?</a:t>
            </a:r>
            <a:endParaRPr lang="en-US" sz="3200" dirty="0"/>
          </a:p>
        </p:txBody>
      </p:sp>
      <p:sp>
        <p:nvSpPr>
          <p:cNvPr id="3" name="Shape 1"/>
          <p:cNvSpPr/>
          <p:nvPr/>
        </p:nvSpPr>
        <p:spPr>
          <a:xfrm>
            <a:off x="548640" y="1417320"/>
            <a:ext cx="384048" cy="384048"/>
          </a:xfrm>
          <a:prstGeom prst="ellipse">
            <a:avLst/>
          </a:prstGeom>
          <a:solidFill>
            <a:schemeClr val="accent1"/>
          </a:solidFill>
          <a:ln w="12700">
            <a:solidFill>
              <a:schemeClr val="accent1"/>
            </a:solidFill>
            <a:prstDash val="solid"/>
          </a:ln>
        </p:spPr>
      </p:sp>
      <p:sp>
        <p:nvSpPr>
          <p:cNvPr id="4" name="Text 2"/>
          <p:cNvSpPr txBox="1"/>
          <p:nvPr/>
        </p:nvSpPr>
        <p:spPr>
          <a:xfrm>
            <a:off x="548640" y="141732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143000" y="1399032"/>
            <a:ext cx="6035040" cy="1005840"/>
          </a:xfrm>
          <a:prstGeom prst="rect">
            <a:avLst/>
          </a:prstGeom>
          <a:noFill/>
          <a:ln/>
        </p:spPr>
        <p:txBody>
          <a:bodyPr wrap="square" lIns="0" tIns="0" rIns="0" bIns="0" rtlCol="0" anchor="t"/>
          <a:lstStyle/>
          <a:p>
            <a:pPr indent="0" marL="0">
              <a:buNone/>
            </a:pPr>
            <a:r>
              <a:rPr lang="en-US" sz="1800" dirty="0">
                <a:solidFill>
                  <a:schemeClr val="tx1"/>
                </a:solidFill>
              </a:rPr>
              <a:t>Aging society creates demand for </a:t>
            </a:r>
            <a:pPr indent="0" marL="0">
              <a:buNone/>
            </a:pPr>
            <a:r>
              <a:rPr lang="en-US" sz="1800" b="1" u="sng" dirty="0">
                <a:solidFill>
                  <a:schemeClr val="tx1"/>
                </a:solidFill>
              </a:rPr>
              <a:t>in-home assistive robots</a:t>
            </a:r>
            <a:pPr indent="0" marL="0">
              <a:buNone/>
            </a:pPr>
            <a:r>
              <a:rPr lang="en-US" sz="1800" dirty="0">
                <a:solidFill>
                  <a:schemeClr val="tx1"/>
                </a:solidFill>
              </a:rPr>
              <a:t> (fetch, tidy, deliver objects).</a:t>
            </a:r>
            <a:endParaRPr lang="en-US" sz="1800" dirty="0"/>
          </a:p>
        </p:txBody>
      </p:sp>
      <p:sp>
        <p:nvSpPr>
          <p:cNvPr id="6" name="Shape 4"/>
          <p:cNvSpPr/>
          <p:nvPr/>
        </p:nvSpPr>
        <p:spPr>
          <a:xfrm>
            <a:off x="548640" y="2606040"/>
            <a:ext cx="384048" cy="384048"/>
          </a:xfrm>
          <a:prstGeom prst="ellipse">
            <a:avLst/>
          </a:prstGeom>
          <a:solidFill>
            <a:schemeClr val="accent1"/>
          </a:solidFill>
          <a:ln w="12700">
            <a:solidFill>
              <a:schemeClr val="accent1"/>
            </a:solidFill>
            <a:prstDash val="solid"/>
          </a:ln>
        </p:spPr>
      </p:sp>
      <p:sp>
        <p:nvSpPr>
          <p:cNvPr id="7" name="Text 5"/>
          <p:cNvSpPr txBox="1"/>
          <p:nvPr/>
        </p:nvSpPr>
        <p:spPr>
          <a:xfrm>
            <a:off x="548640" y="260604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Text 6"/>
          <p:cNvSpPr txBox="1"/>
          <p:nvPr/>
        </p:nvSpPr>
        <p:spPr>
          <a:xfrm>
            <a:off x="1143000" y="2587752"/>
            <a:ext cx="6035040" cy="1005840"/>
          </a:xfrm>
          <a:prstGeom prst="rect">
            <a:avLst/>
          </a:prstGeom>
          <a:noFill/>
          <a:ln/>
        </p:spPr>
        <p:txBody>
          <a:bodyPr wrap="square" lIns="0" tIns="0" rIns="0" bIns="0" rtlCol="0" anchor="t"/>
          <a:lstStyle/>
          <a:p>
            <a:pPr indent="0" marL="0">
              <a:buNone/>
            </a:pPr>
            <a:r>
              <a:rPr lang="en-US" sz="1800" dirty="0">
                <a:solidFill>
                  <a:schemeClr val="tx1"/>
                </a:solidFill>
              </a:rPr>
              <a:t>Homes are small and cluttered. A floor robot </a:t>
            </a:r>
            <a:pPr indent="0" marL="0">
              <a:buNone/>
            </a:pPr>
            <a:r>
              <a:rPr lang="en-US" sz="1800" b="1" u="sng" dirty="0">
                <a:solidFill>
                  <a:schemeClr val="tx1"/>
                </a:solidFill>
              </a:rPr>
              <a:t>shares the floor with residents</a:t>
            </a:r>
            <a:pPr indent="0" marL="0">
              <a:buNone/>
            </a:pPr>
            <a:r>
              <a:rPr lang="en-US" sz="1800" dirty="0">
                <a:solidFill>
                  <a:schemeClr val="tx1"/>
                </a:solidFill>
              </a:rPr>
              <a:t>, who must keep avoiding it.</a:t>
            </a:r>
            <a:endParaRPr lang="en-US" sz="1800" dirty="0"/>
          </a:p>
        </p:txBody>
      </p:sp>
      <p:sp>
        <p:nvSpPr>
          <p:cNvPr id="9" name="Shape 7"/>
          <p:cNvSpPr/>
          <p:nvPr/>
        </p:nvSpPr>
        <p:spPr>
          <a:xfrm>
            <a:off x="548640" y="3794760"/>
            <a:ext cx="384048" cy="384048"/>
          </a:xfrm>
          <a:prstGeom prst="ellipse">
            <a:avLst/>
          </a:prstGeom>
          <a:solidFill>
            <a:schemeClr val="accent1"/>
          </a:solidFill>
          <a:ln w="12700">
            <a:solidFill>
              <a:schemeClr val="accent1"/>
            </a:solidFill>
            <a:prstDash val="solid"/>
          </a:ln>
        </p:spPr>
      </p:sp>
      <p:sp>
        <p:nvSpPr>
          <p:cNvPr id="10" name="Text 8"/>
          <p:cNvSpPr txBox="1"/>
          <p:nvPr/>
        </p:nvSpPr>
        <p:spPr>
          <a:xfrm>
            <a:off x="548640" y="379476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Text 9"/>
          <p:cNvSpPr txBox="1"/>
          <p:nvPr/>
        </p:nvSpPr>
        <p:spPr>
          <a:xfrm>
            <a:off x="1143000" y="3776472"/>
            <a:ext cx="6035040" cy="1005840"/>
          </a:xfrm>
          <a:prstGeom prst="rect">
            <a:avLst/>
          </a:prstGeom>
          <a:noFill/>
          <a:ln/>
        </p:spPr>
        <p:txBody>
          <a:bodyPr wrap="square" lIns="0" tIns="0" rIns="0" bIns="0" rtlCol="0" anchor="t"/>
          <a:lstStyle/>
          <a:p>
            <a:pPr indent="0" marL="0">
              <a:buNone/>
            </a:pPr>
            <a:r>
              <a:rPr lang="en-US" sz="1800" dirty="0">
                <a:solidFill>
                  <a:schemeClr val="tx1"/>
                </a:solidFill>
              </a:rPr>
              <a:t>A ceiling-mounted robot </a:t>
            </a:r>
            <a:pPr indent="0" marL="0">
              <a:buNone/>
            </a:pPr>
            <a:r>
              <a:rPr lang="en-US" sz="1800" b="1" u="sng" dirty="0">
                <a:solidFill>
                  <a:schemeClr val="tx1"/>
                </a:solidFill>
              </a:rPr>
              <a:t>keeps the floor free</a:t>
            </a:r>
            <a:pPr indent="0" marL="0">
              <a:buNone/>
            </a:pPr>
            <a:r>
              <a:rPr lang="en-US" sz="1800" dirty="0">
                <a:solidFill>
                  <a:schemeClr val="tx1"/>
                </a:solidFill>
              </a:rPr>
              <a:t> and still serves the whole room from above.</a:t>
            </a:r>
            <a:endParaRPr lang="en-US" sz="1800" dirty="0"/>
          </a:p>
        </p:txBody>
      </p:sp>
      <p:sp>
        <p:nvSpPr>
          <p:cNvPr id="12" name="Shape 10"/>
          <p:cNvSpPr/>
          <p:nvPr/>
        </p:nvSpPr>
        <p:spPr>
          <a:xfrm>
            <a:off x="548640" y="5074920"/>
            <a:ext cx="6629400" cy="914400"/>
          </a:xfrm>
          <a:prstGeom prst="rect">
            <a:avLst/>
          </a:prstGeom>
          <a:solidFill>
            <a:schemeClr val="bg1"/>
          </a:solidFill>
          <a:ln w="19050">
            <a:solidFill>
              <a:schemeClr val="tx1"/>
            </a:solidFill>
            <a:prstDash val="solid"/>
          </a:ln>
        </p:spPr>
      </p:sp>
      <p:sp>
        <p:nvSpPr>
          <p:cNvPr id="13" name="Text 11"/>
          <p:cNvSpPr txBox="1"/>
          <p:nvPr/>
        </p:nvSpPr>
        <p:spPr>
          <a:xfrm>
            <a:off x="731520" y="5120640"/>
            <a:ext cx="6309360" cy="822960"/>
          </a:xfrm>
          <a:prstGeom prst="rect">
            <a:avLst/>
          </a:prstGeom>
          <a:noFill/>
          <a:ln/>
        </p:spPr>
        <p:txBody>
          <a:bodyPr wrap="square" lIns="0" tIns="0" rIns="0" bIns="0" rtlCol="0" anchor="ctr"/>
          <a:lstStyle/>
          <a:p>
            <a:pPr indent="0" marL="0">
              <a:buNone/>
            </a:pPr>
            <a:r>
              <a:rPr lang="en-US" sz="1600" b="1" dirty="0">
                <a:solidFill>
                  <a:schemeClr val="tx1"/>
                </a:solidFill>
              </a:rPr>
              <a:t>Our testbed: </a:t>
            </a:r>
            <a:pPr indent="0" marL="0">
              <a:buNone/>
            </a:pPr>
            <a:r>
              <a:rPr lang="en-US" sz="1600" dirty="0">
                <a:solidFill>
                  <a:schemeClr val="tx1"/>
                </a:solidFill>
              </a:rPr>
              <a:t>Trailer Living Laboratory (TMU) with a dual-gantry, quad-arm ceiling robot already installed.</a:t>
            </a:r>
            <a:endParaRPr lang="en-US" sz="1600" dirty="0"/>
          </a:p>
        </p:txBody>
      </p:sp>
      <p:pic>
        <p:nvPicPr>
          <p:cNvPr id="14" name="Trailer lab photo" descr="/tmp/claude-1003/-srv-data-users-raditya-arm-WS-ceiling-arm/be5ae870-e296-4224-b9f7-0876347de272/scratchpad/deck/img/ceilingarm_tll-edit.jpg">    </p:cNvPr>
          <p:cNvPicPr>
            <a:picLocks noChangeAspect="1"/>
          </p:cNvPicPr>
          <p:nvPr/>
        </p:nvPicPr>
        <p:blipFill>
          <a:blip r:embed="rId1"/>
          <a:stretch>
            <a:fillRect/>
          </a:stretch>
        </p:blipFill>
        <p:spPr>
          <a:xfrm>
            <a:off x="7863840" y="1188720"/>
            <a:ext cx="3776472" cy="4636008"/>
          </a:xfrm>
          <a:prstGeom prst="rect">
            <a:avLst/>
          </a:prstGeom>
        </p:spPr>
      </p:pic>
      <p:sp>
        <p:nvSpPr>
          <p:cNvPr id="15" name="Text 12"/>
          <p:cNvSpPr txBox="1"/>
          <p:nvPr/>
        </p:nvSpPr>
        <p:spPr>
          <a:xfrm>
            <a:off x="7863840" y="5870448"/>
            <a:ext cx="3776472" cy="274320"/>
          </a:xfrm>
          <a:prstGeom prst="rect">
            <a:avLst/>
          </a:prstGeom>
          <a:noFill/>
          <a:ln/>
        </p:spPr>
        <p:txBody>
          <a:bodyPr wrap="square" lIns="0" tIns="0" rIns="0" bIns="0" rtlCol="0" anchor="t"/>
          <a:lstStyle/>
          <a:p>
            <a:pPr indent="0" marL="0">
              <a:buNone/>
            </a:pPr>
            <a:r>
              <a:rPr lang="en-US" sz="1100" i="1" dirty="0">
                <a:solidFill>
                  <a:schemeClr val="accent5"/>
                </a:solidFill>
              </a:rPr>
              <a:t>Physical platform in the trailer living lab</a:t>
            </a:r>
            <a:endParaRPr lang="en-US" sz="1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chemeClr val="tx2"/>
                </a:solidFill>
              </a:rPr>
              <a:t>Platform: Real Robot and Its Digital Twin</a:t>
            </a:r>
            <a:endParaRPr lang="en-US" sz="3200" dirty="0"/>
          </a:p>
        </p:txBody>
      </p:sp>
      <p:pic>
        <p:nvPicPr>
          <p:cNvPr id="3" name="Real platform" descr="/tmp/claude-1003/-srv-data-users-raditya-arm-WS-ceiling-arm/be5ae870-e296-4224-b9f7-0876347de272/scratchpad/deck/img/ceilingarm_tll-edit.jpg">    </p:cNvPr>
          <p:cNvPicPr>
            <a:picLocks noChangeAspect="1"/>
          </p:cNvPicPr>
          <p:nvPr/>
        </p:nvPicPr>
        <p:blipFill>
          <a:blip r:embed="rId1"/>
          <a:stretch>
            <a:fillRect/>
          </a:stretch>
        </p:blipFill>
        <p:spPr>
          <a:xfrm>
            <a:off x="548640" y="1188720"/>
            <a:ext cx="2157984" cy="2651760"/>
          </a:xfrm>
          <a:prstGeom prst="rect">
            <a:avLst/>
          </a:prstGeom>
        </p:spPr>
      </p:pic>
      <p:sp>
        <p:nvSpPr>
          <p:cNvPr id="4" name="Text 1"/>
          <p:cNvSpPr txBox="1"/>
          <p:nvPr/>
        </p:nvSpPr>
        <p:spPr>
          <a:xfrm>
            <a:off x="548640" y="3867912"/>
            <a:ext cx="2157984" cy="274320"/>
          </a:xfrm>
          <a:prstGeom prst="rect">
            <a:avLst/>
          </a:prstGeom>
          <a:noFill/>
          <a:ln/>
        </p:spPr>
        <p:txBody>
          <a:bodyPr wrap="square" lIns="0" tIns="0" rIns="0" bIns="0" rtlCol="0" anchor="t"/>
          <a:lstStyle/>
          <a:p>
            <a:pPr indent="0" marL="0">
              <a:buNone/>
            </a:pPr>
            <a:r>
              <a:rPr lang="en-US" sz="1100" i="1" dirty="0">
                <a:solidFill>
                  <a:schemeClr val="accent5"/>
                </a:solidFill>
              </a:rPr>
              <a:t>(a) Real platform</a:t>
            </a:r>
            <a:endParaRPr lang="en-US" sz="1100" dirty="0"/>
          </a:p>
        </p:txBody>
      </p:sp>
      <p:pic>
        <p:nvPicPr>
          <p:cNvPr id="5" name="Isaac Sim twin" descr="/tmp/claude-1003/-srv-data-users-raditya-arm-WS-ceiling-arm/be5ae870-e296-4224-b9f7-0876347de272/scratchpad/deck/img/Env_Isaac.png">    </p:cNvPr>
          <p:cNvPicPr>
            <a:picLocks noChangeAspect="1"/>
          </p:cNvPicPr>
          <p:nvPr/>
        </p:nvPicPr>
        <p:blipFill>
          <a:blip r:embed="rId2"/>
          <a:stretch>
            <a:fillRect/>
          </a:stretch>
        </p:blipFill>
        <p:spPr>
          <a:xfrm>
            <a:off x="2880360" y="1188720"/>
            <a:ext cx="5431536" cy="2651760"/>
          </a:xfrm>
          <a:prstGeom prst="rect">
            <a:avLst/>
          </a:prstGeom>
        </p:spPr>
      </p:pic>
      <p:sp>
        <p:nvSpPr>
          <p:cNvPr id="6" name="Text 2"/>
          <p:cNvSpPr txBox="1"/>
          <p:nvPr/>
        </p:nvSpPr>
        <p:spPr>
          <a:xfrm>
            <a:off x="2880360" y="3867912"/>
            <a:ext cx="5431536" cy="274320"/>
          </a:xfrm>
          <a:prstGeom prst="rect">
            <a:avLst/>
          </a:prstGeom>
          <a:noFill/>
          <a:ln/>
        </p:spPr>
        <p:txBody>
          <a:bodyPr wrap="square" lIns="0" tIns="0" rIns="0" bIns="0" rtlCol="0" anchor="t"/>
          <a:lstStyle/>
          <a:p>
            <a:pPr indent="0" marL="0">
              <a:buNone/>
            </a:pPr>
            <a:r>
              <a:rPr lang="en-US" sz="1100" i="1" dirty="0">
                <a:solidFill>
                  <a:schemeClr val="accent5"/>
                </a:solidFill>
              </a:rPr>
              <a:t>(b) Isaac Sim digital twin (same URDF)</a:t>
            </a:r>
            <a:endParaRPr lang="en-US" sz="1100" dirty="0"/>
          </a:p>
        </p:txBody>
      </p:sp>
      <p:sp>
        <p:nvSpPr>
          <p:cNvPr id="7" name="Shape 3"/>
          <p:cNvSpPr/>
          <p:nvPr/>
        </p:nvSpPr>
        <p:spPr>
          <a:xfrm>
            <a:off x="8595360" y="1188720"/>
            <a:ext cx="3044952" cy="2651760"/>
          </a:xfrm>
          <a:prstGeom prst="rect">
            <a:avLst/>
          </a:prstGeom>
          <a:solidFill>
            <a:schemeClr val="bg1"/>
          </a:solidFill>
          <a:ln w="25400">
            <a:solidFill>
              <a:schemeClr val="tx1"/>
            </a:solidFill>
            <a:prstDash val="solid"/>
          </a:ln>
        </p:spPr>
      </p:sp>
      <p:sp>
        <p:nvSpPr>
          <p:cNvPr id="8" name="Text 4"/>
          <p:cNvSpPr txBox="1"/>
          <p:nvPr/>
        </p:nvSpPr>
        <p:spPr>
          <a:xfrm>
            <a:off x="8778240" y="1325880"/>
            <a:ext cx="2697480" cy="2377440"/>
          </a:xfrm>
          <a:prstGeom prst="rect">
            <a:avLst/>
          </a:prstGeom>
          <a:noFill/>
          <a:ln/>
        </p:spPr>
        <p:txBody>
          <a:bodyPr wrap="square" lIns="0" tIns="0" rIns="0" bIns="0" rtlCol="0" anchor="t"/>
          <a:lstStyle/>
          <a:p>
            <a:pPr indent="0" marL="0">
              <a:buNone/>
            </a:pPr>
            <a:r>
              <a:rPr lang="en-US" sz="1600" b="1" u="sng" dirty="0">
                <a:solidFill>
                  <a:schemeClr val="tx1"/>
                </a:solidFill>
              </a:rPr>
              <a:t>All experiments are in simulation.</a:t>
            </a:r>
            <a:endParaRPr lang="en-US" sz="1600" dirty="0"/>
          </a:p>
          <a:p>
            <a:pPr indent="0" marL="0">
              <a:buNone/>
            </a:pPr>
            <a:r>
              <a:rPr lang="en-US" sz="800" dirty="0">
                <a:solidFill>
                  <a:schemeClr val="tx1"/>
                </a:solidFill>
              </a:rPr>
              <a:t> </a:t>
            </a:r>
            <a:endParaRPr lang="en-US" sz="1600" dirty="0"/>
          </a:p>
          <a:p>
            <a:pPr indent="0" marL="0">
              <a:buNone/>
            </a:pPr>
            <a:r>
              <a:rPr lang="en-US" sz="1600" dirty="0">
                <a:solidFill>
                  <a:schemeClr val="tx1"/>
                </a:solidFill>
              </a:rPr>
              <a:t>The twin is built from the same URDF as the real robot, so kinematics and joint limits match the hardware.</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4343400"/>
          <a:ext cx="11094415" cy="914400"/>
        </p:xfrm>
        <a:graphic>
          <a:graphicData uri="http://schemas.openxmlformats.org/drawingml/2006/table">
            <a:tbl>
              <a:tblPr/>
              <a:tblGrid>
                <a:gridCol w="1554480"/>
                <a:gridCol w="4023360"/>
                <a:gridCol w="1600200"/>
                <a:gridCol w="4096512"/>
              </a:tblGrid>
              <a:tr h="438912">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Gantries</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EEF1F5"/>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2 ceiling rails, base height 2.05 m</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Arms</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EEF1F5"/>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4 × Kinova Gen3 Lite (6-DOF, ~0.76 m reach)</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r>
              <a:tr h="438912">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Rail DOF</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EEF1F5"/>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linear 0–2.0 m + rotation ±180°</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Gripper</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EEF1F5"/>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2-finger, one per arm</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r>
              <a:tr h="438912">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DOF per arm</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EEF1F5"/>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8 = rail (d, θ) + 6 arm joints</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Carriage load</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EEF1F5"/>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 18.8 kg (2 arms + mounts)</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r>
              <a:tr h="438912">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Sensors</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EEF1F5"/>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2 × RGB-D (1280×720), ceiling corners</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Room</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EEF1F5"/>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2.4 m wide, 3 work tables</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chemeClr val="tx2"/>
                </a:solidFill>
              </a:rPr>
              <a:t>Problem: Which Arm Acts, and Where Should Its Base Go?</a:t>
            </a:r>
            <a:endParaRPr lang="en-US" sz="3200" dirty="0"/>
          </a:p>
        </p:txBody>
      </p:sp>
      <p:pic>
        <p:nvPicPr>
          <p:cNvPr id="3" name="Four arms on two rails" descr="/tmp/claude-1003/-srv-data-users-raditya-arm-WS-ceiling-arm/be5ae870-e296-4224-b9f7-0876347de272/scratchpad/deck/img/Env_isaac_smping.png">    </p:cNvPr>
          <p:cNvPicPr>
            <a:picLocks noChangeAspect="1"/>
          </p:cNvPicPr>
          <p:nvPr/>
        </p:nvPicPr>
        <p:blipFill>
          <a:blip r:embed="rId1"/>
          <a:stretch>
            <a:fillRect/>
          </a:stretch>
        </p:blipFill>
        <p:spPr>
          <a:xfrm>
            <a:off x="548640" y="1188720"/>
            <a:ext cx="5669280" cy="2889504"/>
          </a:xfrm>
          <a:prstGeom prst="rect">
            <a:avLst/>
          </a:prstGeom>
        </p:spPr>
      </p:pic>
      <p:sp>
        <p:nvSpPr>
          <p:cNvPr id="4" name="Text 1"/>
          <p:cNvSpPr txBox="1"/>
          <p:nvPr/>
        </p:nvSpPr>
        <p:spPr>
          <a:xfrm>
            <a:off x="548640" y="4114800"/>
            <a:ext cx="5669280" cy="274320"/>
          </a:xfrm>
          <a:prstGeom prst="rect">
            <a:avLst/>
          </a:prstGeom>
          <a:noFill/>
          <a:ln/>
        </p:spPr>
        <p:txBody>
          <a:bodyPr wrap="square" lIns="0" tIns="0" rIns="0" bIns="0" rtlCol="0" anchor="t"/>
          <a:lstStyle/>
          <a:p>
            <a:pPr indent="0" marL="0">
              <a:buNone/>
            </a:pPr>
            <a:r>
              <a:rPr lang="en-US" sz="1100" i="1" dirty="0">
                <a:solidFill>
                  <a:schemeClr val="accent5"/>
                </a:solidFill>
              </a:rPr>
              <a:t>Four arms on two rails: most objects are reachable by several arms</a:t>
            </a:r>
            <a:endParaRPr lang="en-US" sz="1100" dirty="0"/>
          </a:p>
        </p:txBody>
      </p:sp>
      <p:sp>
        <p:nvSpPr>
          <p:cNvPr id="5" name="question card"/>
          <p:cNvSpPr/>
          <p:nvPr/>
        </p:nvSpPr>
        <p:spPr>
          <a:xfrm>
            <a:off x="548640" y="4572000"/>
            <a:ext cx="2743200" cy="1371600"/>
          </a:xfrm>
          <a:prstGeom prst="rect">
            <a:avLst/>
          </a:prstGeom>
          <a:solidFill>
            <a:schemeClr val="bg2"/>
          </a:solidFill>
          <a:ln w="12700">
            <a:solidFill>
              <a:schemeClr val="bg2"/>
            </a:solidFill>
            <a:prstDash val="solid"/>
          </a:ln>
        </p:spPr>
      </p:sp>
      <p:sp>
        <p:nvSpPr>
          <p:cNvPr id="6" name="Text 3"/>
          <p:cNvSpPr txBox="1"/>
          <p:nvPr/>
        </p:nvSpPr>
        <p:spPr>
          <a:xfrm>
            <a:off x="731520" y="4681728"/>
            <a:ext cx="2377440" cy="411480"/>
          </a:xfrm>
          <a:prstGeom prst="rect">
            <a:avLst/>
          </a:prstGeom>
          <a:noFill/>
          <a:ln/>
        </p:spPr>
        <p:txBody>
          <a:bodyPr wrap="square" lIns="0" tIns="0" rIns="0" bIns="0" rtlCol="0" anchor="t"/>
          <a:lstStyle/>
          <a:p>
            <a:pPr indent="0" marL="0">
              <a:buNone/>
            </a:pPr>
            <a:r>
              <a:rPr lang="en-US" sz="1800" b="1" dirty="0">
                <a:solidFill>
                  <a:schemeClr val="tx2"/>
                </a:solidFill>
              </a:rPr>
              <a:t>Q1  Which arm?</a:t>
            </a:r>
            <a:endParaRPr lang="en-US" sz="1800" dirty="0"/>
          </a:p>
        </p:txBody>
      </p:sp>
      <p:sp>
        <p:nvSpPr>
          <p:cNvPr id="7" name="Text 4"/>
          <p:cNvSpPr txBox="1"/>
          <p:nvPr/>
        </p:nvSpPr>
        <p:spPr>
          <a:xfrm>
            <a:off x="731520" y="5120640"/>
            <a:ext cx="2377440" cy="731520"/>
          </a:xfrm>
          <a:prstGeom prst="rect">
            <a:avLst/>
          </a:prstGeom>
          <a:noFill/>
          <a:ln/>
        </p:spPr>
        <p:txBody>
          <a:bodyPr wrap="square" lIns="0" tIns="0" rIns="0" bIns="0" rtlCol="0" anchor="t"/>
          <a:lstStyle/>
          <a:p>
            <a:pPr indent="0" marL="0">
              <a:buNone/>
            </a:pPr>
            <a:r>
              <a:rPr lang="en-US" sz="1400" dirty="0">
                <a:solidFill>
                  <a:schemeClr val="tx1"/>
                </a:solidFill>
              </a:rPr>
              <a:t>4 candidates on 2 independent rails</a:t>
            </a:r>
            <a:endParaRPr lang="en-US" sz="1400" dirty="0"/>
          </a:p>
        </p:txBody>
      </p:sp>
      <p:sp>
        <p:nvSpPr>
          <p:cNvPr id="8" name="question card"/>
          <p:cNvSpPr/>
          <p:nvPr/>
        </p:nvSpPr>
        <p:spPr>
          <a:xfrm>
            <a:off x="3474720" y="4572000"/>
            <a:ext cx="2743200" cy="1371600"/>
          </a:xfrm>
          <a:prstGeom prst="rect">
            <a:avLst/>
          </a:prstGeom>
          <a:solidFill>
            <a:schemeClr val="bg2"/>
          </a:solidFill>
          <a:ln w="12700">
            <a:solidFill>
              <a:schemeClr val="bg2"/>
            </a:solidFill>
            <a:prstDash val="solid"/>
          </a:ln>
        </p:spPr>
      </p:sp>
      <p:sp>
        <p:nvSpPr>
          <p:cNvPr id="9" name="Text 6"/>
          <p:cNvSpPr txBox="1"/>
          <p:nvPr/>
        </p:nvSpPr>
        <p:spPr>
          <a:xfrm>
            <a:off x="3657600" y="4681728"/>
            <a:ext cx="2377440" cy="411480"/>
          </a:xfrm>
          <a:prstGeom prst="rect">
            <a:avLst/>
          </a:prstGeom>
          <a:noFill/>
          <a:ln/>
        </p:spPr>
        <p:txBody>
          <a:bodyPr wrap="square" lIns="0" tIns="0" rIns="0" bIns="0" rtlCol="0" anchor="t"/>
          <a:lstStyle/>
          <a:p>
            <a:pPr indent="0" marL="0">
              <a:buNone/>
            </a:pPr>
            <a:r>
              <a:rPr lang="en-US" sz="1800" b="1" dirty="0">
                <a:solidFill>
                  <a:schemeClr val="tx2"/>
                </a:solidFill>
              </a:rPr>
              <a:t>Q2  Where is its base?</a:t>
            </a:r>
            <a:endParaRPr lang="en-US" sz="1800" dirty="0"/>
          </a:p>
        </p:txBody>
      </p:sp>
      <p:sp>
        <p:nvSpPr>
          <p:cNvPr id="10" name="Text 7"/>
          <p:cNvSpPr txBox="1"/>
          <p:nvPr/>
        </p:nvSpPr>
        <p:spPr>
          <a:xfrm>
            <a:off x="3657600" y="5120640"/>
            <a:ext cx="2377440" cy="731520"/>
          </a:xfrm>
          <a:prstGeom prst="rect">
            <a:avLst/>
          </a:prstGeom>
          <a:noFill/>
          <a:ln/>
        </p:spPr>
        <p:txBody>
          <a:bodyPr wrap="square" lIns="0" tIns="0" rIns="0" bIns="0" rtlCol="0" anchor="t"/>
          <a:lstStyle/>
          <a:p>
            <a:pPr indent="0" marL="0">
              <a:buNone/>
            </a:pPr>
            <a:r>
              <a:rPr lang="en-US" sz="1400" dirty="0">
                <a:solidFill>
                  <a:schemeClr val="tx1"/>
                </a:solidFill>
              </a:rPr>
              <a:t>rail travel d and rotation θ, shared by 2 arms</a:t>
            </a:r>
            <a:endParaRPr lang="en-US" sz="1400" dirty="0"/>
          </a:p>
        </p:txBody>
      </p:sp>
      <p:sp>
        <p:nvSpPr>
          <p:cNvPr id="11" name="Text 8"/>
          <p:cNvSpPr txBox="1"/>
          <p:nvPr/>
        </p:nvSpPr>
        <p:spPr>
          <a:xfrm>
            <a:off x="6675120" y="1188720"/>
            <a:ext cx="4937760" cy="411480"/>
          </a:xfrm>
          <a:prstGeom prst="rect">
            <a:avLst/>
          </a:prstGeom>
          <a:noFill/>
          <a:ln/>
        </p:spPr>
        <p:txBody>
          <a:bodyPr wrap="square" lIns="0" tIns="0" rIns="0" bIns="0" rtlCol="0" anchor="t"/>
          <a:lstStyle/>
          <a:p>
            <a:pPr indent="0" marL="0">
              <a:buNone/>
            </a:pPr>
            <a:r>
              <a:rPr lang="en-US" sz="2000" b="1" dirty="0">
                <a:solidFill>
                  <a:schemeClr val="tx2"/>
                </a:solidFill>
              </a:rPr>
              <a:t>Limit of the standard rule (nearest arm)</a:t>
            </a:r>
            <a:endParaRPr lang="en-US" sz="2000" dirty="0"/>
          </a:p>
        </p:txBody>
      </p:sp>
      <p:sp>
        <p:nvSpPr>
          <p:cNvPr id="12" name="Text 9"/>
          <p:cNvSpPr txBox="1"/>
          <p:nvPr/>
        </p:nvSpPr>
        <p:spPr>
          <a:xfrm>
            <a:off x="6675120" y="1691640"/>
            <a:ext cx="4937760" cy="822960"/>
          </a:xfrm>
          <a:prstGeom prst="rect">
            <a:avLst/>
          </a:prstGeom>
          <a:noFill/>
          <a:ln/>
        </p:spPr>
        <p:txBody>
          <a:bodyPr wrap="square" lIns="0" tIns="0" rIns="0" bIns="0" rtlCol="0" anchor="t"/>
          <a:lstStyle/>
          <a:p>
            <a:pPr indent="0" marL="0">
              <a:buNone/>
            </a:pPr>
            <a:r>
              <a:rPr lang="en-US" sz="1600" dirty="0">
                <a:solidFill>
                  <a:schemeClr val="tx1"/>
                </a:solidFill>
              </a:rPr>
              <a:t>The nearest arm ignores the cost of moving its base. </a:t>
            </a:r>
            <a:endParaRPr lang="en-US" sz="1600" dirty="0"/>
          </a:p>
          <a:p>
            <a:pPr indent="0" marL="0">
              <a:buNone/>
            </a:pPr>
            <a:r>
              <a:rPr lang="en-US" sz="1600" dirty="0">
                <a:solidFill>
                  <a:schemeClr val="tx1"/>
                </a:solidFill>
              </a:rPr>
              <a:t>Example target (1.12, −0.60, 1.15) m:</a:t>
            </a:r>
            <a:endParaRPr lang="en-US" sz="1600" dirty="0"/>
          </a:p>
        </p:txBody>
      </p:sp>
      <p:sp>
        <p:nvSpPr>
          <p:cNvPr id="13" name="baseline example"/>
          <p:cNvSpPr/>
          <p:nvPr/>
        </p:nvSpPr>
        <p:spPr>
          <a:xfrm>
            <a:off x="6675120" y="2606040"/>
            <a:ext cx="4965192" cy="1051560"/>
          </a:xfrm>
          <a:prstGeom prst="rect">
            <a:avLst/>
          </a:prstGeom>
          <a:solidFill>
            <a:schemeClr val="bg2"/>
          </a:solidFill>
          <a:ln w="12700">
            <a:solidFill>
              <a:schemeClr val="bg2"/>
            </a:solidFill>
            <a:prstDash val="solid"/>
          </a:ln>
        </p:spPr>
      </p:sp>
      <p:sp>
        <p:nvSpPr>
          <p:cNvPr id="14" name="Text 11"/>
          <p:cNvSpPr txBox="1"/>
          <p:nvPr/>
        </p:nvSpPr>
        <p:spPr>
          <a:xfrm>
            <a:off x="6858000" y="2697480"/>
            <a:ext cx="4572000" cy="868680"/>
          </a:xfrm>
          <a:prstGeom prst="rect">
            <a:avLst/>
          </a:prstGeom>
          <a:noFill/>
          <a:ln/>
        </p:spPr>
        <p:txBody>
          <a:bodyPr wrap="square" lIns="0" tIns="0" rIns="0" bIns="0" rtlCol="0" anchor="ctr"/>
          <a:lstStyle/>
          <a:p>
            <a:pPr indent="0" marL="0">
              <a:buNone/>
            </a:pPr>
            <a:r>
              <a:rPr lang="en-US" sz="1800" b="1" dirty="0">
                <a:solidFill>
                  <a:schemeClr val="tx1"/>
                </a:solidFill>
              </a:rPr>
              <a:t>Nearest picks arm_4</a:t>
            </a:r>
            <a:endParaRPr lang="en-US" sz="1800" dirty="0"/>
          </a:p>
          <a:p>
            <a:pPr indent="0" marL="0">
              <a:buNone/>
            </a:pPr>
            <a:r>
              <a:rPr lang="en-US" sz="1800" dirty="0">
                <a:solidFill>
                  <a:schemeClr val="tx1"/>
                </a:solidFill>
              </a:rPr>
              <a:t>rail travel 1.15 m  →  72.5 J</a:t>
            </a:r>
            <a:endParaRPr lang="en-US" sz="1800" dirty="0"/>
          </a:p>
        </p:txBody>
      </p:sp>
      <p:sp>
        <p:nvSpPr>
          <p:cNvPr id="15" name="Text 12"/>
          <p:cNvSpPr txBox="1"/>
          <p:nvPr/>
        </p:nvSpPr>
        <p:spPr>
          <a:xfrm>
            <a:off x="6675120" y="3977640"/>
            <a:ext cx="4937760" cy="1097280"/>
          </a:xfrm>
          <a:prstGeom prst="rect">
            <a:avLst/>
          </a:prstGeom>
          <a:noFill/>
          <a:ln/>
        </p:spPr>
        <p:txBody>
          <a:bodyPr wrap="square" lIns="0" tIns="0" rIns="0" bIns="0" rtlCol="0" anchor="t"/>
          <a:lstStyle/>
          <a:p>
            <a:pPr indent="0" marL="0">
              <a:buNone/>
            </a:pPr>
            <a:r>
              <a:rPr lang="en-US" sz="1600" dirty="0">
                <a:solidFill>
                  <a:schemeClr val="tx1"/>
                </a:solidFill>
              </a:rPr>
              <a:t>Repositioning the heavy base is a </a:t>
            </a:r>
            <a:pPr indent="0" marL="0">
              <a:buNone/>
            </a:pPr>
            <a:r>
              <a:rPr lang="en-US" sz="1600" b="1" u="sng" dirty="0">
                <a:solidFill>
                  <a:schemeClr val="tx1"/>
                </a:solidFill>
              </a:rPr>
              <a:t>dominant cost</a:t>
            </a:r>
            <a:pPr indent="0" marL="0">
              <a:buNone/>
            </a:pPr>
            <a:r>
              <a:rPr lang="en-US" sz="1600" dirty="0">
                <a:solidFill>
                  <a:schemeClr val="tx1"/>
                </a:solidFill>
              </a:rPr>
              <a:t> of the motion. A single fixed arm reaches only </a:t>
            </a:r>
            <a:pPr indent="0" marL="0">
              <a:buNone/>
            </a:pPr>
            <a:r>
              <a:rPr lang="en-US" sz="1600" b="1" u="sng" dirty="0">
                <a:solidFill>
                  <a:schemeClr val="tx1"/>
                </a:solidFill>
              </a:rPr>
              <a:t>63–65%</a:t>
            </a:r>
            <a:pPr indent="0" marL="0">
              <a:buNone/>
            </a:pPr>
            <a:r>
              <a:rPr lang="en-US" sz="1600" dirty="0">
                <a:solidFill>
                  <a:schemeClr val="tx1"/>
                </a:solidFill>
              </a:rPr>
              <a:t> of targets.</a:t>
            </a:r>
            <a:endParaRPr lang="en-US" sz="1600" dirty="0"/>
          </a:p>
        </p:txBody>
      </p:sp>
      <p:sp>
        <p:nvSpPr>
          <p:cNvPr id="16" name="Shape 13"/>
          <p:cNvSpPr/>
          <p:nvPr/>
        </p:nvSpPr>
        <p:spPr>
          <a:xfrm>
            <a:off x="6675120" y="5440680"/>
            <a:ext cx="4965192" cy="502920"/>
          </a:xfrm>
          <a:prstGeom prst="rect">
            <a:avLst/>
          </a:prstGeom>
          <a:solidFill>
            <a:schemeClr val="bg1"/>
          </a:solidFill>
          <a:ln w="19050">
            <a:solidFill>
              <a:schemeClr val="tx1"/>
            </a:solidFill>
            <a:prstDash val="solid"/>
          </a:ln>
        </p:spPr>
      </p:sp>
      <p:sp>
        <p:nvSpPr>
          <p:cNvPr id="17" name="Text 14"/>
          <p:cNvSpPr txBox="1"/>
          <p:nvPr/>
        </p:nvSpPr>
        <p:spPr>
          <a:xfrm>
            <a:off x="6812280" y="5440680"/>
            <a:ext cx="4754880" cy="502920"/>
          </a:xfrm>
          <a:prstGeom prst="rect">
            <a:avLst/>
          </a:prstGeom>
          <a:noFill/>
          <a:ln/>
        </p:spPr>
        <p:txBody>
          <a:bodyPr wrap="square" lIns="0" tIns="0" rIns="0" bIns="0" rtlCol="0" anchor="ctr"/>
          <a:lstStyle/>
          <a:p>
            <a:pPr indent="0" marL="0">
              <a:buNone/>
            </a:pPr>
            <a:r>
              <a:rPr lang="en-US" sz="1600" b="1" dirty="0">
                <a:solidFill>
                  <a:schemeClr val="tx1"/>
                </a:solidFill>
              </a:rPr>
              <a:t>Goal: choose arm + base placement for minimum energy</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chemeClr val="tx2"/>
                </a:solidFill>
              </a:rPr>
              <a:t>Related Work and Gap</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3959352"/>
                <a:gridCol w="1828800"/>
                <a:gridCol w="1828800"/>
                <a:gridCol w="1828800"/>
                <a:gridCol w="1828800"/>
              </a:tblGrid>
              <a:tr h="6858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Method</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F3A5F"/>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Chooses among several arms</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F3A5F"/>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Rail / base motion in the model</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F3A5F"/>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Per-node configuration + quality</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F3A5F"/>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Energy-scored</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F3A5F"/>
                    </a:solidFill>
                  </a:tcPr>
                </a:tc>
              </a:tr>
              <a:tr h="457200">
                <a:tc>
                  <a:txBody>
                    <a:bodyPr/>
                    <a:lstStyle/>
                    <a:p>
                      <a:pPr indent="0" marL="0">
                        <a:buNone/>
                      </a:pPr>
                      <a:r>
                        <a:rPr lang="en-US" sz="1500" dirty="0">
                          <a:solidFill>
                            <a:srgbClr val="1A1A1A"/>
                          </a:solidFill>
                          <a:latin typeface="Calibri" pitchFamily="34" charset="0"/>
                          <a:ea typeface="Calibri" pitchFamily="34" charset="-122"/>
                          <a:cs typeface="Calibri" pitchFamily="34" charset="-120"/>
                        </a:rPr>
                        <a:t>Capability map, Zacharias et al. 2007</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ctr" indent="0" marL="0">
                        <a:buNone/>
                      </a:pPr>
                      <a:r>
                        <a:rPr lang="en-US" sz="1800" dirty="0">
                          <a:solidFill>
                            <a:srgbClr val="1A1A1A"/>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ctr" indent="0" marL="0">
                        <a:buNone/>
                      </a:pPr>
                      <a:r>
                        <a:rPr lang="en-US" sz="1800" dirty="0">
                          <a:solidFill>
                            <a:srgbClr val="1A1A1A"/>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ctr" indent="0" marL="0">
                        <a:buNone/>
                      </a:pPr>
                      <a:r>
                        <a:rPr lang="en-US" sz="1800" dirty="0">
                          <a:solidFill>
                            <a:srgbClr val="1A1A1A"/>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ctr" indent="0" marL="0">
                        <a:buNone/>
                      </a:pPr>
                      <a:r>
                        <a:rPr lang="en-US" sz="1800" dirty="0">
                          <a:solidFill>
                            <a:srgbClr val="1A1A1A"/>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r>
              <a:tr h="457200">
                <a:tc>
                  <a:txBody>
                    <a:bodyPr/>
                    <a:lstStyle/>
                    <a:p>
                      <a:pPr indent="0" marL="0">
                        <a:buNone/>
                      </a:pPr>
                      <a:r>
                        <a:rPr lang="en-US" sz="1500" dirty="0">
                          <a:solidFill>
                            <a:srgbClr val="1A1A1A"/>
                          </a:solidFill>
                          <a:latin typeface="Calibri" pitchFamily="34" charset="0"/>
                          <a:ea typeface="Calibri" pitchFamily="34" charset="-122"/>
                          <a:cs typeface="Calibri" pitchFamily="34" charset="-120"/>
                        </a:rPr>
                        <a:t>Reuleaux base placement, 2018</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ctr" indent="0" marL="0">
                        <a:buNone/>
                      </a:pPr>
                      <a:r>
                        <a:rPr lang="en-US" sz="1800" dirty="0">
                          <a:solidFill>
                            <a:srgbClr val="1A1A1A"/>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ctr" indent="0" marL="0">
                        <a:buNone/>
                      </a:pPr>
                      <a:r>
                        <a:rPr lang="en-US" sz="1800" dirty="0">
                          <a:solidFill>
                            <a:srgbClr val="1A1A1A"/>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ctr" indent="0" marL="0">
                        <a:buNone/>
                      </a:pPr>
                      <a:r>
                        <a:rPr lang="en-US" sz="1800" dirty="0">
                          <a:solidFill>
                            <a:srgbClr val="1A1A1A"/>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ctr" indent="0" marL="0">
                        <a:buNone/>
                      </a:pPr>
                      <a:r>
                        <a:rPr lang="en-US" sz="1800" dirty="0">
                          <a:solidFill>
                            <a:srgbClr val="1A1A1A"/>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r>
              <a:tr h="457200">
                <a:tc>
                  <a:txBody>
                    <a:bodyPr/>
                    <a:lstStyle/>
                    <a:p>
                      <a:pPr indent="0" marL="0">
                        <a:buNone/>
                      </a:pPr>
                      <a:r>
                        <a:rPr lang="en-US" sz="1500" dirty="0">
                          <a:solidFill>
                            <a:srgbClr val="1A1A1A"/>
                          </a:solidFill>
                          <a:latin typeface="Calibri" pitchFamily="34" charset="0"/>
                          <a:ea typeface="Calibri" pitchFamily="34" charset="-122"/>
                          <a:cs typeface="Calibri" pitchFamily="34" charset="-120"/>
                        </a:rPr>
                        <a:t>MoMa-Pos, 2024</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ctr" indent="0" marL="0">
                        <a:buNone/>
                      </a:pPr>
                      <a:r>
                        <a:rPr lang="en-US" sz="1800" dirty="0">
                          <a:solidFill>
                            <a:srgbClr val="1A1A1A"/>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ctr" indent="0" marL="0">
                        <a:buNone/>
                      </a:pPr>
                      <a:r>
                        <a:rPr lang="en-US" sz="1800" dirty="0">
                          <a:solidFill>
                            <a:srgbClr val="1A1A1A"/>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ctr" indent="0" marL="0">
                        <a:buNone/>
                      </a:pPr>
                      <a:r>
                        <a:rPr lang="en-US" sz="1800" dirty="0">
                          <a:solidFill>
                            <a:srgbClr val="1A1A1A"/>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ctr" indent="0" marL="0">
                        <a:buNone/>
                      </a:pPr>
                      <a:r>
                        <a:rPr lang="en-US" sz="1800" dirty="0">
                          <a:solidFill>
                            <a:srgbClr val="1A1A1A"/>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r>
              <a:tr h="457200">
                <a:tc>
                  <a:txBody>
                    <a:bodyPr/>
                    <a:lstStyle/>
                    <a:p>
                      <a:pPr indent="0" marL="0">
                        <a:buNone/>
                      </a:pPr>
                      <a:r>
                        <a:rPr lang="en-US" sz="1500" dirty="0">
                          <a:solidFill>
                            <a:srgbClr val="1A1A1A"/>
                          </a:solidFill>
                          <a:latin typeface="Calibri" pitchFamily="34" charset="0"/>
                          <a:ea typeface="Calibri" pitchFamily="34" charset="-122"/>
                          <a:cs typeface="Calibri" pitchFamily="34" charset="-120"/>
                        </a:rPr>
                        <a:t>BaSeNet (base pose sequence), 2024</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ctr" indent="0" marL="0">
                        <a:buNone/>
                      </a:pPr>
                      <a:r>
                        <a:rPr lang="en-US" sz="1800" dirty="0">
                          <a:solidFill>
                            <a:srgbClr val="1A1A1A"/>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ctr" indent="0" marL="0">
                        <a:buNone/>
                      </a:pPr>
                      <a:r>
                        <a:rPr lang="en-US" sz="1800" dirty="0">
                          <a:solidFill>
                            <a:srgbClr val="1A1A1A"/>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ctr" indent="0" marL="0">
                        <a:buNone/>
                      </a:pPr>
                      <a:r>
                        <a:rPr lang="en-US" sz="1800" dirty="0">
                          <a:solidFill>
                            <a:srgbClr val="1A1A1A"/>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ctr" indent="0" marL="0">
                        <a:buNone/>
                      </a:pPr>
                      <a:r>
                        <a:rPr lang="en-US" sz="1800" dirty="0">
                          <a:solidFill>
                            <a:srgbClr val="1A1A1A"/>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r>
              <a:tr h="457200">
                <a:tc>
                  <a:txBody>
                    <a:bodyPr/>
                    <a:lstStyle/>
                    <a:p>
                      <a:pPr indent="0" marL="0">
                        <a:buNone/>
                      </a:pPr>
                      <a:r>
                        <a:rPr lang="en-US" sz="1500" dirty="0">
                          <a:solidFill>
                            <a:srgbClr val="1A1A1A"/>
                          </a:solidFill>
                          <a:latin typeface="Calibri" pitchFamily="34" charset="0"/>
                          <a:ea typeface="Calibri" pitchFamily="34" charset="-122"/>
                          <a:cs typeface="Calibri" pitchFamily="34" charset="-120"/>
                        </a:rPr>
                        <a:t>RoboPARA (task-level allocation), 2026</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ctr" indent="0" marL="0">
                        <a:buNone/>
                      </a:pPr>
                      <a:r>
                        <a:rPr lang="en-US" sz="1800" dirty="0">
                          <a:solidFill>
                            <a:srgbClr val="1A1A1A"/>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ctr" indent="0" marL="0">
                        <a:buNone/>
                      </a:pPr>
                      <a:r>
                        <a:rPr lang="en-US" sz="1800" dirty="0">
                          <a:solidFill>
                            <a:srgbClr val="1A1A1A"/>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ctr" indent="0" marL="0">
                        <a:buNone/>
                      </a:pPr>
                      <a:r>
                        <a:rPr lang="en-US" sz="1800" dirty="0">
                          <a:solidFill>
                            <a:srgbClr val="1A1A1A"/>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ctr" indent="0" marL="0">
                        <a:buNone/>
                      </a:pPr>
                      <a:r>
                        <a:rPr lang="en-US" sz="1800" dirty="0">
                          <a:solidFill>
                            <a:srgbClr val="1A1A1A"/>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r>
              <a:tr h="502920">
                <a:tc>
                  <a:txBody>
                    <a:bodyPr/>
                    <a:lstStyle/>
                    <a:p>
                      <a:pPr algn="l" indent="0" marL="0">
                        <a:buNone/>
                      </a:pPr>
                      <a:r>
                        <a:rPr lang="en-US" sz="1600" b="1" dirty="0">
                          <a:solidFill>
                            <a:srgbClr val="1A1A1A"/>
                          </a:solidFill>
                          <a:latin typeface="Calibri" pitchFamily="34" charset="0"/>
                          <a:ea typeface="Calibri" pitchFamily="34" charset="-122"/>
                          <a:cs typeface="Calibri" pitchFamily="34" charset="-120"/>
                        </a:rPr>
                        <a:t>Ours</a:t>
                      </a:r>
                      <a:endParaRPr lang="en-US" sz="1600" dirty="0">
                        <a:latin typeface="Calibri" charset="0"/>
                        <a:ea typeface="Calibri" charset="0"/>
                        <a:cs typeface="Calibri" charset="0"/>
                      </a:endParaRPr>
                    </a:p>
                  </a:txBody>
                  <a:tcPr marL="73152" marR="73152" marT="27432" marB="27432" anchor="ctr">
                    <a:lnL w="28575" cap="flat" cmpd="sng" algn="ctr">
                      <a:solidFill>
                        <a:srgbClr val="1A1A1A"/>
                      </a:solidFill>
                      <a:prstDash val="solid"/>
                      <a:round/>
                      <a:headEnd type="none" w="med" len="med"/>
                      <a:tailEnd type="none" w="med" len="med"/>
                    </a:lnL>
                    <a:lnR w="9525" cap="flat" cmpd="sng" algn="ctr">
                      <a:solidFill>
                        <a:srgbClr val="C9CED6"/>
                      </a:solidFill>
                      <a:prstDash val="solid"/>
                      <a:round/>
                      <a:headEnd type="none" w="med" len="med"/>
                      <a:tailEnd type="none" w="med" len="med"/>
                    </a:lnR>
                    <a:lnT w="28575" cap="flat" cmpd="sng" algn="ctr">
                      <a:solidFill>
                        <a:srgbClr val="1A1A1A"/>
                      </a:solidFill>
                      <a:prstDash val="solid"/>
                      <a:round/>
                      <a:headEnd type="none" w="med" len="med"/>
                      <a:tailEnd type="none" w="med" len="med"/>
                    </a:lnT>
                    <a:lnB w="28575" cap="flat" cmpd="sng" algn="ctr">
                      <a:solidFill>
                        <a:srgbClr val="1A1A1A"/>
                      </a:solidFill>
                      <a:prstDash val="solid"/>
                      <a:round/>
                      <a:headEnd type="none" w="med" len="med"/>
                      <a:tailEnd type="none" w="med" len="med"/>
                    </a:lnB>
                    <a:solidFill>
                      <a:srgbClr val="EEF1F5"/>
                    </a:solidFill>
                  </a:tcPr>
                </a:tc>
                <a:tc>
                  <a:txBody>
                    <a:bodyPr/>
                    <a:lstStyle/>
                    <a:p>
                      <a:pPr algn="ctr" indent="0" marL="0">
                        <a:buNone/>
                      </a:pPr>
                      <a:r>
                        <a:rPr lang="en-US" sz="1800" b="1" dirty="0">
                          <a:solidFill>
                            <a:srgbClr val="1A1A1A"/>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28575" cap="flat" cmpd="sng" algn="ctr">
                      <a:solidFill>
                        <a:srgbClr val="1A1A1A"/>
                      </a:solidFill>
                      <a:prstDash val="solid"/>
                      <a:round/>
                      <a:headEnd type="none" w="med" len="med"/>
                      <a:tailEnd type="none" w="med" len="med"/>
                    </a:lnT>
                    <a:lnB w="28575" cap="flat" cmpd="sng" algn="ctr">
                      <a:solidFill>
                        <a:srgbClr val="1A1A1A"/>
                      </a:solidFill>
                      <a:prstDash val="solid"/>
                      <a:round/>
                      <a:headEnd type="none" w="med" len="med"/>
                      <a:tailEnd type="none" w="med" len="med"/>
                    </a:lnB>
                    <a:solidFill>
                      <a:srgbClr val="EEF1F5"/>
                    </a:solidFill>
                  </a:tcPr>
                </a:tc>
                <a:tc>
                  <a:txBody>
                    <a:bodyPr/>
                    <a:lstStyle/>
                    <a:p>
                      <a:pPr algn="ctr" indent="0" marL="0">
                        <a:buNone/>
                      </a:pPr>
                      <a:r>
                        <a:rPr lang="en-US" sz="1800" b="1" dirty="0">
                          <a:solidFill>
                            <a:srgbClr val="1A1A1A"/>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28575" cap="flat" cmpd="sng" algn="ctr">
                      <a:solidFill>
                        <a:srgbClr val="1A1A1A"/>
                      </a:solidFill>
                      <a:prstDash val="solid"/>
                      <a:round/>
                      <a:headEnd type="none" w="med" len="med"/>
                      <a:tailEnd type="none" w="med" len="med"/>
                    </a:lnT>
                    <a:lnB w="28575" cap="flat" cmpd="sng" algn="ctr">
                      <a:solidFill>
                        <a:srgbClr val="1A1A1A"/>
                      </a:solidFill>
                      <a:prstDash val="solid"/>
                      <a:round/>
                      <a:headEnd type="none" w="med" len="med"/>
                      <a:tailEnd type="none" w="med" len="med"/>
                    </a:lnB>
                    <a:solidFill>
                      <a:srgbClr val="EEF1F5"/>
                    </a:solidFill>
                  </a:tcPr>
                </a:tc>
                <a:tc>
                  <a:txBody>
                    <a:bodyPr/>
                    <a:lstStyle/>
                    <a:p>
                      <a:pPr algn="ctr" indent="0" marL="0">
                        <a:buNone/>
                      </a:pPr>
                      <a:r>
                        <a:rPr lang="en-US" sz="1800" b="1" dirty="0">
                          <a:solidFill>
                            <a:srgbClr val="1A1A1A"/>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28575" cap="flat" cmpd="sng" algn="ctr">
                      <a:solidFill>
                        <a:srgbClr val="1A1A1A"/>
                      </a:solidFill>
                      <a:prstDash val="solid"/>
                      <a:round/>
                      <a:headEnd type="none" w="med" len="med"/>
                      <a:tailEnd type="none" w="med" len="med"/>
                    </a:lnT>
                    <a:lnB w="28575" cap="flat" cmpd="sng" algn="ctr">
                      <a:solidFill>
                        <a:srgbClr val="1A1A1A"/>
                      </a:solidFill>
                      <a:prstDash val="solid"/>
                      <a:round/>
                      <a:headEnd type="none" w="med" len="med"/>
                      <a:tailEnd type="none" w="med" len="med"/>
                    </a:lnB>
                    <a:solidFill>
                      <a:srgbClr val="EEF1F5"/>
                    </a:solidFill>
                  </a:tcPr>
                </a:tc>
                <a:tc>
                  <a:txBody>
                    <a:bodyPr/>
                    <a:lstStyle/>
                    <a:p>
                      <a:pPr algn="ctr" indent="0" marL="0">
                        <a:buNone/>
                      </a:pPr>
                      <a:r>
                        <a:rPr lang="en-US" sz="1800" b="1" dirty="0">
                          <a:solidFill>
                            <a:srgbClr val="1A1A1A"/>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28575" cap="flat" cmpd="sng" algn="ctr">
                      <a:solidFill>
                        <a:srgbClr val="1A1A1A"/>
                      </a:solidFill>
                      <a:prstDash val="solid"/>
                      <a:round/>
                      <a:headEnd type="none" w="med" len="med"/>
                      <a:tailEnd type="none" w="med" len="med"/>
                    </a:lnR>
                    <a:lnT w="28575" cap="flat" cmpd="sng" algn="ctr">
                      <a:solidFill>
                        <a:srgbClr val="1A1A1A"/>
                      </a:solidFill>
                      <a:prstDash val="solid"/>
                      <a:round/>
                      <a:headEnd type="none" w="med" len="med"/>
                      <a:tailEnd type="none" w="med" len="med"/>
                    </a:lnT>
                    <a:lnB w="28575" cap="flat" cmpd="sng" algn="ctr">
                      <a:solidFill>
                        <a:srgbClr val="1A1A1A"/>
                      </a:solidFill>
                      <a:prstDash val="solid"/>
                      <a:round/>
                      <a:headEnd type="none" w="med" len="med"/>
                      <a:tailEnd type="none" w="med" len="med"/>
                    </a:lnB>
                    <a:solidFill>
                      <a:srgbClr val="EEF1F5"/>
                    </a:solidFill>
                  </a:tcPr>
                </a:tc>
              </a:tr>
            </a:tbl>
          </a:graphicData>
        </a:graphic>
      </p:graphicFrame>
      <p:sp>
        <p:nvSpPr>
          <p:cNvPr id="4" name="Text 1"/>
          <p:cNvSpPr txBox="1"/>
          <p:nvPr/>
        </p:nvSpPr>
        <p:spPr>
          <a:xfrm>
            <a:off x="548640" y="4800600"/>
            <a:ext cx="7315200" cy="274320"/>
          </a:xfrm>
          <a:prstGeom prst="rect">
            <a:avLst/>
          </a:prstGeom>
          <a:noFill/>
          <a:ln/>
        </p:spPr>
        <p:txBody>
          <a:bodyPr wrap="square" lIns="0" tIns="0" rIns="0" bIns="0" rtlCol="0" anchor="t"/>
          <a:lstStyle/>
          <a:p>
            <a:pPr indent="0" marL="0">
              <a:buNone/>
            </a:pPr>
            <a:r>
              <a:rPr lang="en-US" sz="1100" i="1" dirty="0">
                <a:solidFill>
                  <a:schemeClr val="accent5"/>
                </a:solidFill>
              </a:rPr>
              <a:t>△ = reach orientation only, no IK-ready configuration</a:t>
            </a:r>
            <a:endParaRPr lang="en-US" sz="1100" dirty="0"/>
          </a:p>
        </p:txBody>
      </p:sp>
      <p:sp>
        <p:nvSpPr>
          <p:cNvPr id="5" name="Text 2"/>
          <p:cNvSpPr txBox="1"/>
          <p:nvPr/>
        </p:nvSpPr>
        <p:spPr>
          <a:xfrm>
            <a:off x="548640" y="5257800"/>
            <a:ext cx="11094415" cy="731520"/>
          </a:xfrm>
          <a:prstGeom prst="rect">
            <a:avLst/>
          </a:prstGeom>
          <a:noFill/>
          <a:ln/>
        </p:spPr>
        <p:txBody>
          <a:bodyPr wrap="square" lIns="0" tIns="0" rIns="0" bIns="0" rtlCol="0" anchor="t"/>
          <a:lstStyle/>
          <a:p>
            <a:pPr indent="0" marL="0">
              <a:buNone/>
            </a:pPr>
            <a:r>
              <a:rPr lang="en-US" sz="1800" b="1" dirty="0">
                <a:solidFill>
                  <a:schemeClr val="tx1"/>
                </a:solidFill>
              </a:rPr>
              <a:t>Gap: </a:t>
            </a:r>
            <a:pPr indent="0" marL="0">
              <a:buNone/>
            </a:pPr>
            <a:r>
              <a:rPr lang="en-US" sz="1800" dirty="0">
                <a:solidFill>
                  <a:schemeClr val="tx1"/>
                </a:solidFill>
              </a:rPr>
              <a:t>prior work places </a:t>
            </a:r>
            <a:pPr indent="0" marL="0">
              <a:buNone/>
            </a:pPr>
            <a:r>
              <a:rPr lang="en-US" sz="1800" b="1" u="sng" dirty="0">
                <a:solidFill>
                  <a:schemeClr val="tx1"/>
                </a:solidFill>
              </a:rPr>
              <a:t>one arm</a:t>
            </a:r>
            <a:pPr indent="0" marL="0">
              <a:buNone/>
            </a:pPr>
            <a:r>
              <a:rPr lang="en-US" sz="1800" dirty="0">
                <a:solidFill>
                  <a:schemeClr val="tx1"/>
                </a:solidFill>
              </a:rPr>
              <a:t> well from a fixed-base, binary map. None chooses </a:t>
            </a:r>
            <a:pPr indent="0" marL="0">
              <a:buNone/>
            </a:pPr>
            <a:r>
              <a:rPr lang="en-US" sz="1800" b="1" u="sng" dirty="0">
                <a:solidFill>
                  <a:schemeClr val="tx1"/>
                </a:solidFill>
              </a:rPr>
              <a:t>among arms</a:t>
            </a:r>
            <a:pPr indent="0" marL="0">
              <a:buNone/>
            </a:pPr>
            <a:r>
              <a:rPr lang="en-US" sz="1800" dirty="0">
                <a:solidFill>
                  <a:schemeClr val="tx1"/>
                </a:solidFill>
              </a:rPr>
              <a:t> and scores arm + base by </a:t>
            </a:r>
            <a:pPr indent="0" marL="0">
              <a:buNone/>
            </a:pPr>
            <a:r>
              <a:rPr lang="en-US" sz="1800" b="1" u="sng" dirty="0">
                <a:solidFill>
                  <a:schemeClr val="tx1"/>
                </a:solidFill>
              </a:rPr>
              <a:t>energy</a:t>
            </a:r>
            <a:pPr indent="0" marL="0">
              <a:buNone/>
            </a:pPr>
            <a:r>
              <a:rPr lang="en-US" sz="1800" dirty="0">
                <a:solidFill>
                  <a:schemeClr val="tx1"/>
                </a:solidFill>
              </a:rPr>
              <a:t>.</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chemeClr val="tx2"/>
                </a:solidFill>
              </a:rPr>
              <a:t>Proposed System: Three Subsystems</a:t>
            </a:r>
            <a:endParaRPr lang="en-US" sz="3200" dirty="0"/>
          </a:p>
        </p:txBody>
      </p:sp>
      <p:sp>
        <p:nvSpPr>
          <p:cNvPr id="3" name="Shape 1"/>
          <p:cNvSpPr/>
          <p:nvPr/>
        </p:nvSpPr>
        <p:spPr>
          <a:xfrm>
            <a:off x="548640" y="1600200"/>
            <a:ext cx="1600200" cy="960120"/>
          </a:xfrm>
          <a:prstGeom prst="roundRect">
            <a:avLst>
              <a:gd name="adj" fmla="val 7619"/>
            </a:avLst>
          </a:prstGeom>
          <a:solidFill>
            <a:schemeClr val="bg2"/>
          </a:solidFill>
          <a:ln w="19050">
            <a:solidFill>
              <a:schemeClr val="accent1"/>
            </a:solidFill>
            <a:prstDash val="solid"/>
          </a:ln>
        </p:spPr>
      </p:sp>
      <p:sp>
        <p:nvSpPr>
          <p:cNvPr id="4" name="Text 2"/>
          <p:cNvSpPr txBox="1"/>
          <p:nvPr/>
        </p:nvSpPr>
        <p:spPr>
          <a:xfrm>
            <a:off x="640080" y="1600200"/>
            <a:ext cx="1417320" cy="960120"/>
          </a:xfrm>
          <a:prstGeom prst="rect">
            <a:avLst/>
          </a:prstGeom>
          <a:noFill/>
          <a:ln/>
        </p:spPr>
        <p:txBody>
          <a:bodyPr wrap="square" lIns="0" tIns="0" rIns="0" bIns="0" rtlCol="0" anchor="ctr"/>
          <a:lstStyle/>
          <a:p>
            <a:pPr algn="ctr" indent="0" marL="0">
              <a:buNone/>
            </a:pPr>
            <a:r>
              <a:rPr lang="en-US" sz="1500" dirty="0">
                <a:solidFill>
                  <a:schemeClr val="tx1"/>
                </a:solidFill>
              </a:rPr>
              <a:t>2 RGB-D cameras</a:t>
            </a:r>
            <a:endParaRPr lang="en-US" sz="1500" dirty="0"/>
          </a:p>
          <a:p>
            <a:pPr algn="ctr" indent="0" marL="0">
              <a:buNone/>
            </a:pPr>
            <a:r>
              <a:rPr lang="en-US" sz="1500" dirty="0">
                <a:solidFill>
                  <a:schemeClr val="tx1"/>
                </a:solidFill>
              </a:rPr>
              <a:t>+ text query</a:t>
            </a:r>
            <a:endParaRPr lang="en-US" sz="1500" dirty="0"/>
          </a:p>
        </p:txBody>
      </p:sp>
      <p:sp>
        <p:nvSpPr>
          <p:cNvPr id="5" name="Shape 3"/>
          <p:cNvSpPr/>
          <p:nvPr/>
        </p:nvSpPr>
        <p:spPr>
          <a:xfrm>
            <a:off x="2697480" y="1600200"/>
            <a:ext cx="2103120" cy="960120"/>
          </a:xfrm>
          <a:prstGeom prst="roundRect">
            <a:avLst>
              <a:gd name="adj" fmla="val 7619"/>
            </a:avLst>
          </a:prstGeom>
          <a:solidFill>
            <a:schemeClr val="accent1"/>
          </a:solidFill>
          <a:ln w="19050">
            <a:solidFill>
              <a:schemeClr val="accent1"/>
            </a:solidFill>
            <a:prstDash val="solid"/>
          </a:ln>
        </p:spPr>
      </p:sp>
      <p:sp>
        <p:nvSpPr>
          <p:cNvPr id="6" name="Text 4"/>
          <p:cNvSpPr txBox="1"/>
          <p:nvPr/>
        </p:nvSpPr>
        <p:spPr>
          <a:xfrm>
            <a:off x="2788920" y="1600200"/>
            <a:ext cx="1920240" cy="960120"/>
          </a:xfrm>
          <a:prstGeom prst="rect">
            <a:avLst/>
          </a:prstGeom>
          <a:noFill/>
          <a:ln/>
        </p:spPr>
        <p:txBody>
          <a:bodyPr wrap="square" lIns="0" tIns="0" rIns="0" bIns="0" rtlCol="0" anchor="ctr"/>
          <a:lstStyle/>
          <a:p>
            <a:pPr algn="ctr" indent="0" marL="0">
              <a:buNone/>
            </a:pPr>
            <a:r>
              <a:rPr lang="en-US" sz="1500" b="1" dirty="0">
                <a:solidFill>
                  <a:schemeClr val="bg1"/>
                </a:solidFill>
              </a:rPr>
              <a:t>Perception</a:t>
            </a:r>
            <a:endParaRPr lang="en-US" sz="1500" dirty="0"/>
          </a:p>
          <a:p>
            <a:pPr algn="ctr" indent="0" marL="0">
              <a:buNone/>
            </a:pPr>
            <a:r>
              <a:rPr lang="en-US" sz="1500" dirty="0">
                <a:solidFill>
                  <a:schemeClr val="bg1"/>
                </a:solidFill>
              </a:rPr>
              <a:t>YOLOE → object pose</a:t>
            </a:r>
            <a:endParaRPr lang="en-US" sz="1500" dirty="0"/>
          </a:p>
        </p:txBody>
      </p:sp>
      <p:sp>
        <p:nvSpPr>
          <p:cNvPr id="7" name="Shape 5"/>
          <p:cNvSpPr/>
          <p:nvPr/>
        </p:nvSpPr>
        <p:spPr>
          <a:xfrm>
            <a:off x="2514600" y="1417320"/>
            <a:ext cx="384048" cy="384048"/>
          </a:xfrm>
          <a:prstGeom prst="ellipse">
            <a:avLst/>
          </a:prstGeom>
          <a:solidFill>
            <a:schemeClr val="bg1"/>
          </a:solidFill>
          <a:ln w="25400">
            <a:solidFill>
              <a:schemeClr val="accent1"/>
            </a:solidFill>
            <a:prstDash val="solid"/>
          </a:ln>
        </p:spPr>
      </p:sp>
      <p:sp>
        <p:nvSpPr>
          <p:cNvPr id="8" name="Text 6"/>
          <p:cNvSpPr txBox="1"/>
          <p:nvPr/>
        </p:nvSpPr>
        <p:spPr>
          <a:xfrm>
            <a:off x="2514600" y="1417320"/>
            <a:ext cx="384048" cy="384048"/>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9" name="Shape 7"/>
          <p:cNvSpPr/>
          <p:nvPr/>
        </p:nvSpPr>
        <p:spPr>
          <a:xfrm>
            <a:off x="5440680" y="1600200"/>
            <a:ext cx="2377440" cy="960120"/>
          </a:xfrm>
          <a:prstGeom prst="roundRect">
            <a:avLst>
              <a:gd name="adj" fmla="val 7619"/>
            </a:avLst>
          </a:prstGeom>
          <a:solidFill>
            <a:schemeClr val="accent1"/>
          </a:solidFill>
          <a:ln w="19050">
            <a:solidFill>
              <a:schemeClr val="accent1"/>
            </a:solidFill>
            <a:prstDash val="solid"/>
          </a:ln>
        </p:spPr>
      </p:sp>
      <p:sp>
        <p:nvSpPr>
          <p:cNvPr id="10" name="Text 8"/>
          <p:cNvSpPr txBox="1"/>
          <p:nvPr/>
        </p:nvSpPr>
        <p:spPr>
          <a:xfrm>
            <a:off x="5532120" y="1600200"/>
            <a:ext cx="2194560" cy="960120"/>
          </a:xfrm>
          <a:prstGeom prst="rect">
            <a:avLst/>
          </a:prstGeom>
          <a:noFill/>
          <a:ln/>
        </p:spPr>
        <p:txBody>
          <a:bodyPr wrap="square" lIns="0" tIns="0" rIns="0" bIns="0" rtlCol="0" anchor="ctr"/>
          <a:lstStyle/>
          <a:p>
            <a:pPr algn="ctr" indent="0" marL="0">
              <a:buNone/>
            </a:pPr>
            <a:r>
              <a:rPr lang="en-US" sz="1500" b="1" dirty="0">
                <a:solidFill>
                  <a:schemeClr val="bg1"/>
                </a:solidFill>
              </a:rPr>
              <a:t>Energy-aware selection</a:t>
            </a:r>
            <a:endParaRPr lang="en-US" sz="1500" dirty="0"/>
          </a:p>
          <a:p>
            <a:pPr algn="ctr" indent="0" marL="0">
              <a:buNone/>
            </a:pPr>
            <a:r>
              <a:rPr lang="en-US" sz="1500" dirty="0">
                <a:solidFill>
                  <a:schemeClr val="bg1"/>
                </a:solidFill>
              </a:rPr>
              <a:t>rank by cost J</a:t>
            </a:r>
            <a:endParaRPr lang="en-US" sz="1500" dirty="0"/>
          </a:p>
        </p:txBody>
      </p:sp>
      <p:sp>
        <p:nvSpPr>
          <p:cNvPr id="11" name="Shape 9"/>
          <p:cNvSpPr/>
          <p:nvPr/>
        </p:nvSpPr>
        <p:spPr>
          <a:xfrm>
            <a:off x="5257800" y="1417320"/>
            <a:ext cx="384048" cy="384048"/>
          </a:xfrm>
          <a:prstGeom prst="ellipse">
            <a:avLst/>
          </a:prstGeom>
          <a:solidFill>
            <a:schemeClr val="bg1"/>
          </a:solidFill>
          <a:ln w="25400">
            <a:solidFill>
              <a:schemeClr val="accent1"/>
            </a:solidFill>
            <a:prstDash val="solid"/>
          </a:ln>
        </p:spPr>
      </p:sp>
      <p:sp>
        <p:nvSpPr>
          <p:cNvPr id="12" name="Text 10"/>
          <p:cNvSpPr txBox="1"/>
          <p:nvPr/>
        </p:nvSpPr>
        <p:spPr>
          <a:xfrm>
            <a:off x="5257800" y="1417320"/>
            <a:ext cx="384048" cy="384048"/>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3" name="Shape 11"/>
          <p:cNvSpPr/>
          <p:nvPr/>
        </p:nvSpPr>
        <p:spPr>
          <a:xfrm>
            <a:off x="8458200" y="1600200"/>
            <a:ext cx="1417320" cy="960120"/>
          </a:xfrm>
          <a:prstGeom prst="roundRect">
            <a:avLst>
              <a:gd name="adj" fmla="val 7619"/>
            </a:avLst>
          </a:prstGeom>
          <a:solidFill>
            <a:schemeClr val="bg2"/>
          </a:solidFill>
          <a:ln w="19050">
            <a:solidFill>
              <a:schemeClr val="accent1"/>
            </a:solidFill>
            <a:prstDash val="solid"/>
          </a:ln>
        </p:spPr>
      </p:sp>
      <p:sp>
        <p:nvSpPr>
          <p:cNvPr id="14" name="Text 12"/>
          <p:cNvSpPr txBox="1"/>
          <p:nvPr/>
        </p:nvSpPr>
        <p:spPr>
          <a:xfrm>
            <a:off x="8549640" y="1600200"/>
            <a:ext cx="1234440" cy="960120"/>
          </a:xfrm>
          <a:prstGeom prst="rect">
            <a:avLst/>
          </a:prstGeom>
          <a:noFill/>
          <a:ln/>
        </p:spPr>
        <p:txBody>
          <a:bodyPr wrap="square" lIns="0" tIns="0" rIns="0" bIns="0" rtlCol="0" anchor="ctr"/>
          <a:lstStyle/>
          <a:p>
            <a:pPr algn="ctr" indent="0" marL="0">
              <a:buNone/>
            </a:pPr>
            <a:r>
              <a:rPr lang="en-US" sz="1500" dirty="0">
                <a:solidFill>
                  <a:schemeClr val="tx1"/>
                </a:solidFill>
              </a:rPr>
              <a:t>Arm +</a:t>
            </a:r>
            <a:endParaRPr lang="en-US" sz="1500" dirty="0"/>
          </a:p>
          <a:p>
            <a:pPr algn="ctr" indent="0" marL="0">
              <a:buNone/>
            </a:pPr>
            <a:r>
              <a:rPr lang="en-US" sz="1500" dirty="0">
                <a:solidFill>
                  <a:schemeClr val="tx1"/>
                </a:solidFill>
              </a:rPr>
              <a:t>base</a:t>
            </a:r>
            <a:endParaRPr lang="en-US" sz="1500" dirty="0"/>
          </a:p>
        </p:txBody>
      </p:sp>
      <p:sp>
        <p:nvSpPr>
          <p:cNvPr id="15" name="Shape 13"/>
          <p:cNvSpPr/>
          <p:nvPr/>
        </p:nvSpPr>
        <p:spPr>
          <a:xfrm>
            <a:off x="10287000" y="1600200"/>
            <a:ext cx="1353312" cy="960120"/>
          </a:xfrm>
          <a:prstGeom prst="roundRect">
            <a:avLst>
              <a:gd name="adj" fmla="val 7619"/>
            </a:avLst>
          </a:prstGeom>
          <a:solidFill>
            <a:schemeClr val="bg2"/>
          </a:solidFill>
          <a:ln w="19050">
            <a:solidFill>
              <a:schemeClr val="accent1"/>
            </a:solidFill>
            <a:prstDash val="solid"/>
          </a:ln>
        </p:spPr>
      </p:sp>
      <p:sp>
        <p:nvSpPr>
          <p:cNvPr id="16" name="Text 14"/>
          <p:cNvSpPr txBox="1"/>
          <p:nvPr/>
        </p:nvSpPr>
        <p:spPr>
          <a:xfrm>
            <a:off x="10378440" y="1600200"/>
            <a:ext cx="1170432" cy="960120"/>
          </a:xfrm>
          <a:prstGeom prst="rect">
            <a:avLst/>
          </a:prstGeom>
          <a:noFill/>
          <a:ln/>
        </p:spPr>
        <p:txBody>
          <a:bodyPr wrap="square" lIns="0" tIns="0" rIns="0" bIns="0" rtlCol="0" anchor="ctr"/>
          <a:lstStyle/>
          <a:p>
            <a:pPr algn="ctr" indent="0" marL="0">
              <a:buNone/>
            </a:pPr>
            <a:r>
              <a:rPr lang="en-US" sz="1500" dirty="0">
                <a:solidFill>
                  <a:schemeClr val="tx1"/>
                </a:solidFill>
              </a:rPr>
              <a:t>MoveIt 2</a:t>
            </a:r>
            <a:endParaRPr lang="en-US" sz="1500" dirty="0"/>
          </a:p>
          <a:p>
            <a:pPr algn="ctr" indent="0" marL="0">
              <a:buNone/>
            </a:pPr>
            <a:r>
              <a:rPr lang="en-US" sz="1500" dirty="0">
                <a:solidFill>
                  <a:schemeClr val="tx1"/>
                </a:solidFill>
              </a:rPr>
              <a:t>plan + execute</a:t>
            </a:r>
            <a:endParaRPr lang="en-US" sz="1500" dirty="0"/>
          </a:p>
        </p:txBody>
      </p:sp>
      <p:sp>
        <p:nvSpPr>
          <p:cNvPr id="17" name="Shape 15"/>
          <p:cNvSpPr/>
          <p:nvPr/>
        </p:nvSpPr>
        <p:spPr>
          <a:xfrm>
            <a:off x="5440680" y="3154680"/>
            <a:ext cx="2377440" cy="960120"/>
          </a:xfrm>
          <a:prstGeom prst="roundRect">
            <a:avLst>
              <a:gd name="adj" fmla="val 7619"/>
            </a:avLst>
          </a:prstGeom>
          <a:solidFill>
            <a:schemeClr val="accent1"/>
          </a:solidFill>
          <a:ln w="19050">
            <a:solidFill>
              <a:schemeClr val="accent1"/>
            </a:solidFill>
            <a:prstDash val="solid"/>
          </a:ln>
        </p:spPr>
      </p:sp>
      <p:sp>
        <p:nvSpPr>
          <p:cNvPr id="18" name="Text 16"/>
          <p:cNvSpPr txBox="1"/>
          <p:nvPr/>
        </p:nvSpPr>
        <p:spPr>
          <a:xfrm>
            <a:off x="5532120" y="3154680"/>
            <a:ext cx="2194560" cy="960120"/>
          </a:xfrm>
          <a:prstGeom prst="rect">
            <a:avLst/>
          </a:prstGeom>
          <a:noFill/>
          <a:ln/>
        </p:spPr>
        <p:txBody>
          <a:bodyPr wrap="square" lIns="0" tIns="0" rIns="0" bIns="0" rtlCol="0" anchor="ctr"/>
          <a:lstStyle/>
          <a:p>
            <a:pPr algn="ctr" indent="0" marL="0">
              <a:buNone/>
            </a:pPr>
            <a:r>
              <a:rPr lang="en-US" sz="1500" b="1" dirty="0">
                <a:solidFill>
                  <a:schemeClr val="bg1"/>
                </a:solidFill>
              </a:rPr>
              <a:t>Base-aware GNG</a:t>
            </a:r>
            <a:endParaRPr lang="en-US" sz="1500" dirty="0"/>
          </a:p>
          <a:p>
            <a:pPr algn="ctr" indent="0" marL="0">
              <a:buNone/>
            </a:pPr>
            <a:r>
              <a:rPr lang="en-US" sz="1500" dirty="0">
                <a:solidFill>
                  <a:schemeClr val="bg1"/>
                </a:solidFill>
              </a:rPr>
              <a:t>capability map (offline, per arm)</a:t>
            </a:r>
            <a:endParaRPr lang="en-US" sz="1500" dirty="0"/>
          </a:p>
        </p:txBody>
      </p:sp>
      <p:sp>
        <p:nvSpPr>
          <p:cNvPr id="19" name="Shape 17"/>
          <p:cNvSpPr/>
          <p:nvPr/>
        </p:nvSpPr>
        <p:spPr>
          <a:xfrm>
            <a:off x="5257800" y="2971800"/>
            <a:ext cx="384048" cy="384048"/>
          </a:xfrm>
          <a:prstGeom prst="ellipse">
            <a:avLst/>
          </a:prstGeom>
          <a:solidFill>
            <a:schemeClr val="bg1"/>
          </a:solidFill>
          <a:ln w="25400">
            <a:solidFill>
              <a:schemeClr val="accent1"/>
            </a:solidFill>
            <a:prstDash val="solid"/>
          </a:ln>
        </p:spPr>
      </p:sp>
      <p:sp>
        <p:nvSpPr>
          <p:cNvPr id="20" name="Text 18"/>
          <p:cNvSpPr txBox="1"/>
          <p:nvPr/>
        </p:nvSpPr>
        <p:spPr>
          <a:xfrm>
            <a:off x="5257800" y="2971800"/>
            <a:ext cx="384048" cy="384048"/>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21" name="Shape 19"/>
          <p:cNvSpPr/>
          <p:nvPr/>
        </p:nvSpPr>
        <p:spPr>
          <a:xfrm>
            <a:off x="2167128" y="2080260"/>
            <a:ext cx="502920" cy="0"/>
          </a:xfrm>
          <a:prstGeom prst="line">
            <a:avLst/>
          </a:prstGeom>
          <a:noFill/>
          <a:ln w="25400">
            <a:solidFill>
              <a:schemeClr val="accent5"/>
            </a:solidFill>
            <a:prstDash val="solid"/>
            <a:tailEnd type="triangle"/>
          </a:ln>
        </p:spPr>
      </p:sp>
      <p:sp>
        <p:nvSpPr>
          <p:cNvPr id="22" name="Shape 20"/>
          <p:cNvSpPr/>
          <p:nvPr/>
        </p:nvSpPr>
        <p:spPr>
          <a:xfrm>
            <a:off x="4818888" y="2080260"/>
            <a:ext cx="594360" cy="0"/>
          </a:xfrm>
          <a:prstGeom prst="line">
            <a:avLst/>
          </a:prstGeom>
          <a:noFill/>
          <a:ln w="25400">
            <a:solidFill>
              <a:schemeClr val="accent5"/>
            </a:solidFill>
            <a:prstDash val="solid"/>
            <a:tailEnd type="triangle"/>
          </a:ln>
        </p:spPr>
      </p:sp>
      <p:sp>
        <p:nvSpPr>
          <p:cNvPr id="23" name="Shape 21"/>
          <p:cNvSpPr/>
          <p:nvPr/>
        </p:nvSpPr>
        <p:spPr>
          <a:xfrm>
            <a:off x="7836408" y="2080260"/>
            <a:ext cx="594360" cy="0"/>
          </a:xfrm>
          <a:prstGeom prst="line">
            <a:avLst/>
          </a:prstGeom>
          <a:noFill/>
          <a:ln w="25400">
            <a:solidFill>
              <a:schemeClr val="accent5"/>
            </a:solidFill>
            <a:prstDash val="solid"/>
            <a:tailEnd type="triangle"/>
          </a:ln>
        </p:spPr>
      </p:sp>
      <p:sp>
        <p:nvSpPr>
          <p:cNvPr id="24" name="Shape 22"/>
          <p:cNvSpPr/>
          <p:nvPr/>
        </p:nvSpPr>
        <p:spPr>
          <a:xfrm>
            <a:off x="9893808" y="2080260"/>
            <a:ext cx="365760" cy="0"/>
          </a:xfrm>
          <a:prstGeom prst="line">
            <a:avLst/>
          </a:prstGeom>
          <a:noFill/>
          <a:ln w="25400">
            <a:solidFill>
              <a:schemeClr val="accent5"/>
            </a:solidFill>
            <a:prstDash val="solid"/>
            <a:tailEnd type="triangle"/>
          </a:ln>
        </p:spPr>
      </p:sp>
      <p:sp>
        <p:nvSpPr>
          <p:cNvPr id="25" name="Shape 23"/>
          <p:cNvSpPr/>
          <p:nvPr/>
        </p:nvSpPr>
        <p:spPr>
          <a:xfrm flipV="1">
            <a:off x="6629400" y="3136392"/>
            <a:ext cx="0" cy="-557784"/>
          </a:xfrm>
          <a:prstGeom prst="line">
            <a:avLst/>
          </a:prstGeom>
          <a:noFill/>
          <a:ln w="25400">
            <a:solidFill>
              <a:schemeClr val="accent5"/>
            </a:solidFill>
            <a:prstDash val="solid"/>
            <a:tailEnd type="triangle"/>
          </a:ln>
        </p:spPr>
      </p:sp>
      <p:sp>
        <p:nvSpPr>
          <p:cNvPr id="26" name="Text 24"/>
          <p:cNvSpPr txBox="1"/>
          <p:nvPr/>
        </p:nvSpPr>
        <p:spPr>
          <a:xfrm>
            <a:off x="548640" y="4434840"/>
            <a:ext cx="3657600" cy="365760"/>
          </a:xfrm>
          <a:prstGeom prst="rect">
            <a:avLst/>
          </a:prstGeom>
          <a:noFill/>
          <a:ln/>
        </p:spPr>
        <p:txBody>
          <a:bodyPr wrap="square" lIns="0" tIns="0" rIns="0" bIns="0" rtlCol="0" anchor="t"/>
          <a:lstStyle/>
          <a:p>
            <a:pPr indent="0" marL="0">
              <a:buNone/>
            </a:pPr>
            <a:r>
              <a:rPr lang="en-US" sz="2000" b="1" dirty="0">
                <a:solidFill>
                  <a:schemeClr val="tx2"/>
                </a:solidFill>
              </a:rPr>
              <a:t>Contributions</a:t>
            </a:r>
            <a:endParaRPr lang="en-US" sz="2000" dirty="0"/>
          </a:p>
        </p:txBody>
      </p:sp>
      <p:sp>
        <p:nvSpPr>
          <p:cNvPr id="27" name="Text 25"/>
          <p:cNvSpPr txBox="1"/>
          <p:nvPr/>
        </p:nvSpPr>
        <p:spPr>
          <a:xfrm>
            <a:off x="548640" y="4846320"/>
            <a:ext cx="11094415" cy="457200"/>
          </a:xfrm>
          <a:prstGeom prst="rect">
            <a:avLst/>
          </a:prstGeom>
          <a:noFill/>
          <a:ln/>
        </p:spPr>
        <p:txBody>
          <a:bodyPr wrap="square" lIns="0" tIns="0" rIns="0" bIns="0" rtlCol="0" anchor="ctr"/>
          <a:lstStyle/>
          <a:p>
            <a:pPr indent="0" marL="0">
              <a:buNone/>
            </a:pPr>
            <a:r>
              <a:rPr lang="en-US" sz="1600" b="1" dirty="0">
                <a:solidFill>
                  <a:schemeClr val="tx1"/>
                </a:solidFill>
              </a:rPr>
              <a:t>C1  </a:t>
            </a:r>
            <a:pPr indent="0" marL="0">
              <a:buNone/>
            </a:pPr>
            <a:r>
              <a:rPr lang="en-US" sz="1600" b="1" u="sng" dirty="0">
                <a:solidFill>
                  <a:schemeClr val="tx1"/>
                </a:solidFill>
              </a:rPr>
              <a:t>Energy-aware selection cost J</a:t>
            </a:r>
            <a:pPr indent="0" marL="0">
              <a:buNone/>
            </a:pPr>
            <a:r>
              <a:rPr lang="en-US" sz="1600" dirty="0">
                <a:solidFill>
                  <a:schemeClr val="tx1"/>
                </a:solidFill>
              </a:rPr>
              <a:t> that picks the arm and the full 8-DOF configuration (rail travel included).</a:t>
            </a:r>
            <a:endParaRPr lang="en-US" sz="1600" dirty="0"/>
          </a:p>
        </p:txBody>
      </p:sp>
      <p:sp>
        <p:nvSpPr>
          <p:cNvPr id="28" name="Text 26"/>
          <p:cNvSpPr txBox="1"/>
          <p:nvPr/>
        </p:nvSpPr>
        <p:spPr>
          <a:xfrm>
            <a:off x="548640" y="5321808"/>
            <a:ext cx="11094415" cy="457200"/>
          </a:xfrm>
          <a:prstGeom prst="rect">
            <a:avLst/>
          </a:prstGeom>
          <a:noFill/>
          <a:ln/>
        </p:spPr>
        <p:txBody>
          <a:bodyPr wrap="square" lIns="0" tIns="0" rIns="0" bIns="0" rtlCol="0" anchor="ctr"/>
          <a:lstStyle/>
          <a:p>
            <a:pPr indent="0" marL="0">
              <a:buNone/>
            </a:pPr>
            <a:r>
              <a:rPr lang="en-US" sz="1600" b="1" dirty="0">
                <a:solidFill>
                  <a:schemeClr val="tx1"/>
                </a:solidFill>
              </a:rPr>
              <a:t>C2  </a:t>
            </a:r>
            <a:pPr indent="0" marL="0">
              <a:buNone/>
            </a:pPr>
            <a:r>
              <a:rPr lang="en-US" sz="1600" b="1" u="sng" dirty="0">
                <a:solidFill>
                  <a:schemeClr val="tx1"/>
                </a:solidFill>
              </a:rPr>
              <a:t>Base-aware GNG capability map</a:t>
            </a:r>
            <a:pPr indent="0" marL="0">
              <a:buNone/>
            </a:pPr>
            <a:r>
              <a:rPr lang="en-US" sz="1600" dirty="0">
                <a:solidFill>
                  <a:schemeClr val="tx1"/>
                </a:solidFill>
              </a:rPr>
              <a:t>: rail as an active DOF, every node stores a configuration + manipulability; boundary seeding.</a:t>
            </a:r>
            <a:endParaRPr lang="en-US" sz="1600" dirty="0"/>
          </a:p>
        </p:txBody>
      </p:sp>
      <p:sp>
        <p:nvSpPr>
          <p:cNvPr id="29" name="Text 27"/>
          <p:cNvSpPr txBox="1"/>
          <p:nvPr/>
        </p:nvSpPr>
        <p:spPr>
          <a:xfrm>
            <a:off x="548640" y="5797296"/>
            <a:ext cx="11094415" cy="457200"/>
          </a:xfrm>
          <a:prstGeom prst="rect">
            <a:avLst/>
          </a:prstGeom>
          <a:noFill/>
          <a:ln/>
        </p:spPr>
        <p:txBody>
          <a:bodyPr wrap="square" lIns="0" tIns="0" rIns="0" bIns="0" rtlCol="0" anchor="ctr"/>
          <a:lstStyle/>
          <a:p>
            <a:pPr indent="0" marL="0">
              <a:buNone/>
            </a:pPr>
            <a:r>
              <a:rPr lang="en-US" sz="1600" b="1" dirty="0">
                <a:solidFill>
                  <a:schemeClr val="tx1"/>
                </a:solidFill>
              </a:rPr>
              <a:t>C3  </a:t>
            </a:r>
            <a:pPr indent="0" marL="0">
              <a:buNone/>
            </a:pPr>
            <a:r>
              <a:rPr lang="en-US" sz="1600" b="1" u="sng" dirty="0">
                <a:solidFill>
                  <a:schemeClr val="tx1"/>
                </a:solidFill>
              </a:rPr>
              <a:t>Isaac Sim evaluation</a:t>
            </a:r>
            <a:pPr indent="0" marL="0">
              <a:buNone/>
            </a:pPr>
            <a:r>
              <a:rPr lang="en-US" sz="1600" dirty="0">
                <a:solidFill>
                  <a:schemeClr val="tx1"/>
                </a:solidFill>
              </a:rPr>
              <a:t> against nearest, fixed and random baselines.</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chemeClr val="tx2"/>
                </a:solidFill>
              </a:rPr>
              <a:t>Subsystem 1: Open-Vocabulary Perception</a:t>
            </a:r>
            <a:endParaRPr lang="en-US" sz="3200" dirty="0"/>
          </a:p>
        </p:txBody>
      </p:sp>
      <p:pic>
        <p:nvPicPr>
          <p:cNvPr id="3" name="Camera 1 view" descr="/tmp/claude-1003/-srv-data-users-raditya-arm-WS-ceiling-arm/be5ae870-e296-4224-b9f7-0876347de272/scratchpad/deck/img/perception_rgbd_20260717_162902.png">    </p:cNvPr>
          <p:cNvPicPr>
            <a:picLocks noChangeAspect="1"/>
          </p:cNvPicPr>
          <p:nvPr/>
        </p:nvPicPr>
        <p:blipFill>
          <a:blip r:embed="rId1"/>
          <a:stretch>
            <a:fillRect/>
          </a:stretch>
        </p:blipFill>
        <p:spPr>
          <a:xfrm>
            <a:off x="548640" y="1188720"/>
            <a:ext cx="5486400" cy="3086100"/>
          </a:xfrm>
          <a:prstGeom prst="rect">
            <a:avLst/>
          </a:prstGeom>
        </p:spPr>
      </p:pic>
      <p:pic>
        <p:nvPicPr>
          <p:cNvPr id="4" name="Camera 2 view" descr="/tmp/claude-1003/-srv-data-users-raditya-arm-WS-ceiling-arm/be5ae870-e296-4224-b9f7-0876347de272/scratchpad/deck/img/perception_rgbd2_20260717_163458.png">    </p:cNvPr>
          <p:cNvPicPr>
            <a:picLocks noChangeAspect="1"/>
          </p:cNvPicPr>
          <p:nvPr/>
        </p:nvPicPr>
        <p:blipFill>
          <a:blip r:embed="rId2"/>
          <a:stretch>
            <a:fillRect/>
          </a:stretch>
        </p:blipFill>
        <p:spPr>
          <a:xfrm>
            <a:off x="6153912" y="1188720"/>
            <a:ext cx="5486400" cy="3086100"/>
          </a:xfrm>
          <a:prstGeom prst="rect">
            <a:avLst/>
          </a:prstGeom>
        </p:spPr>
      </p:pic>
      <p:sp>
        <p:nvSpPr>
          <p:cNvPr id="5" name="Text 1"/>
          <p:cNvSpPr txBox="1"/>
          <p:nvPr/>
        </p:nvSpPr>
        <p:spPr>
          <a:xfrm>
            <a:off x="548640" y="4297680"/>
            <a:ext cx="5486400" cy="274320"/>
          </a:xfrm>
          <a:prstGeom prst="rect">
            <a:avLst/>
          </a:prstGeom>
          <a:noFill/>
          <a:ln/>
        </p:spPr>
        <p:txBody>
          <a:bodyPr wrap="square" lIns="0" tIns="0" rIns="0" bIns="0" rtlCol="0" anchor="t"/>
          <a:lstStyle/>
          <a:p>
            <a:pPr indent="0" marL="0">
              <a:buNone/>
            </a:pPr>
            <a:r>
              <a:rPr lang="en-US" sz="1100" i="1" dirty="0">
                <a:solidFill>
                  <a:schemeClr val="accent5"/>
                </a:solidFill>
              </a:rPr>
              <a:t>(a) camera 1</a:t>
            </a:r>
            <a:endParaRPr lang="en-US" sz="1100" dirty="0"/>
          </a:p>
        </p:txBody>
      </p:sp>
      <p:sp>
        <p:nvSpPr>
          <p:cNvPr id="6" name="Text 2"/>
          <p:cNvSpPr txBox="1"/>
          <p:nvPr/>
        </p:nvSpPr>
        <p:spPr>
          <a:xfrm>
            <a:off x="6153912" y="4297680"/>
            <a:ext cx="5486400" cy="274320"/>
          </a:xfrm>
          <a:prstGeom prst="rect">
            <a:avLst/>
          </a:prstGeom>
          <a:noFill/>
          <a:ln/>
        </p:spPr>
        <p:txBody>
          <a:bodyPr wrap="square" lIns="0" tIns="0" rIns="0" bIns="0" rtlCol="0" anchor="t"/>
          <a:lstStyle/>
          <a:p>
            <a:pPr indent="0" marL="0">
              <a:buNone/>
            </a:pPr>
            <a:r>
              <a:rPr lang="en-US" sz="1100" i="1" dirty="0">
                <a:solidFill>
                  <a:schemeClr val="accent5"/>
                </a:solidFill>
              </a:rPr>
              <a:t>(b) camera 2 (diagonally opposite corner)</a:t>
            </a:r>
            <a:endParaRPr lang="en-US" sz="1100" dirty="0"/>
          </a:p>
        </p:txBody>
      </p:sp>
      <p:sp>
        <p:nvSpPr>
          <p:cNvPr id="7" name="Shape 3"/>
          <p:cNvSpPr/>
          <p:nvPr/>
        </p:nvSpPr>
        <p:spPr>
          <a:xfrm>
            <a:off x="548640" y="4663440"/>
            <a:ext cx="1965960" cy="685800"/>
          </a:xfrm>
          <a:prstGeom prst="roundRect">
            <a:avLst>
              <a:gd name="adj" fmla="val 10667"/>
            </a:avLst>
          </a:prstGeom>
          <a:solidFill>
            <a:schemeClr val="bg2"/>
          </a:solidFill>
          <a:ln w="12700">
            <a:solidFill>
              <a:schemeClr val="accent1"/>
            </a:solidFill>
            <a:prstDash val="solid"/>
          </a:ln>
        </p:spPr>
      </p:sp>
      <p:sp>
        <p:nvSpPr>
          <p:cNvPr id="8" name="Text 4"/>
          <p:cNvSpPr txBox="1"/>
          <p:nvPr/>
        </p:nvSpPr>
        <p:spPr>
          <a:xfrm>
            <a:off x="548640" y="4663440"/>
            <a:ext cx="1965960" cy="685800"/>
          </a:xfrm>
          <a:prstGeom prst="rect">
            <a:avLst/>
          </a:prstGeom>
          <a:noFill/>
          <a:ln/>
        </p:spPr>
        <p:txBody>
          <a:bodyPr wrap="square" lIns="0" tIns="0" rIns="0" bIns="0" rtlCol="0" anchor="ctr"/>
          <a:lstStyle/>
          <a:p>
            <a:pPr algn="ctr" indent="0" marL="0">
              <a:buNone/>
            </a:pPr>
            <a:r>
              <a:rPr lang="en-US" sz="1400" dirty="0">
                <a:solidFill>
                  <a:schemeClr val="tx1"/>
                </a:solidFill>
              </a:rPr>
              <a:t>YOLOE mask</a:t>
            </a:r>
            <a:endParaRPr lang="en-US" sz="1400" dirty="0"/>
          </a:p>
          <a:p>
            <a:pPr algn="ctr" indent="0" marL="0">
              <a:buNone/>
            </a:pPr>
            <a:r>
              <a:rPr lang="en-US" sz="1400" dirty="0">
                <a:solidFill>
                  <a:schemeClr val="tx1"/>
                </a:solidFill>
              </a:rPr>
              <a:t>from text query</a:t>
            </a:r>
            <a:endParaRPr lang="en-US" sz="1400" dirty="0"/>
          </a:p>
        </p:txBody>
      </p:sp>
      <p:sp>
        <p:nvSpPr>
          <p:cNvPr id="9" name="Shape 5"/>
          <p:cNvSpPr/>
          <p:nvPr/>
        </p:nvSpPr>
        <p:spPr>
          <a:xfrm>
            <a:off x="2542032" y="5006340"/>
            <a:ext cx="261290" cy="0"/>
          </a:xfrm>
          <a:prstGeom prst="line">
            <a:avLst/>
          </a:prstGeom>
          <a:noFill/>
          <a:ln w="25400">
            <a:solidFill>
              <a:schemeClr val="accent5"/>
            </a:solidFill>
            <a:prstDash val="solid"/>
            <a:tailEnd type="triangle"/>
          </a:ln>
        </p:spPr>
      </p:sp>
      <p:sp>
        <p:nvSpPr>
          <p:cNvPr id="10" name="Shape 6"/>
          <p:cNvSpPr/>
          <p:nvPr/>
        </p:nvSpPr>
        <p:spPr>
          <a:xfrm>
            <a:off x="2830754" y="4663440"/>
            <a:ext cx="1965960" cy="685800"/>
          </a:xfrm>
          <a:prstGeom prst="roundRect">
            <a:avLst>
              <a:gd name="adj" fmla="val 10667"/>
            </a:avLst>
          </a:prstGeom>
          <a:solidFill>
            <a:schemeClr val="bg2"/>
          </a:solidFill>
          <a:ln w="12700">
            <a:solidFill>
              <a:schemeClr val="accent1"/>
            </a:solidFill>
            <a:prstDash val="solid"/>
          </a:ln>
        </p:spPr>
      </p:sp>
      <p:sp>
        <p:nvSpPr>
          <p:cNvPr id="11" name="Text 7"/>
          <p:cNvSpPr txBox="1"/>
          <p:nvPr/>
        </p:nvSpPr>
        <p:spPr>
          <a:xfrm>
            <a:off x="2830754" y="4663440"/>
            <a:ext cx="1965960" cy="685800"/>
          </a:xfrm>
          <a:prstGeom prst="rect">
            <a:avLst/>
          </a:prstGeom>
          <a:noFill/>
          <a:ln/>
        </p:spPr>
        <p:txBody>
          <a:bodyPr wrap="square" lIns="0" tIns="0" rIns="0" bIns="0" rtlCol="0" anchor="ctr"/>
          <a:lstStyle/>
          <a:p>
            <a:pPr algn="ctr" indent="0" marL="0">
              <a:buNone/>
            </a:pPr>
            <a:r>
              <a:rPr lang="en-US" sz="1400" dirty="0">
                <a:solidFill>
                  <a:schemeClr val="tx1"/>
                </a:solidFill>
              </a:rPr>
              <a:t>Depth → world</a:t>
            </a:r>
            <a:endParaRPr lang="en-US" sz="1400" dirty="0"/>
          </a:p>
          <a:p>
            <a:pPr algn="ctr" indent="0" marL="0">
              <a:buNone/>
            </a:pPr>
            <a:r>
              <a:rPr lang="en-US" sz="1400" dirty="0">
                <a:solidFill>
                  <a:schemeClr val="tx1"/>
                </a:solidFill>
              </a:rPr>
              <a:t>3D points</a:t>
            </a:r>
            <a:endParaRPr lang="en-US" sz="1400" dirty="0"/>
          </a:p>
        </p:txBody>
      </p:sp>
      <p:sp>
        <p:nvSpPr>
          <p:cNvPr id="12" name="Shape 8"/>
          <p:cNvSpPr/>
          <p:nvPr/>
        </p:nvSpPr>
        <p:spPr>
          <a:xfrm>
            <a:off x="4824146" y="5006340"/>
            <a:ext cx="261290" cy="0"/>
          </a:xfrm>
          <a:prstGeom prst="line">
            <a:avLst/>
          </a:prstGeom>
          <a:noFill/>
          <a:ln w="25400">
            <a:solidFill>
              <a:schemeClr val="accent5"/>
            </a:solidFill>
            <a:prstDash val="solid"/>
            <a:tailEnd type="triangle"/>
          </a:ln>
        </p:spPr>
      </p:sp>
      <p:sp>
        <p:nvSpPr>
          <p:cNvPr id="13" name="Shape 9"/>
          <p:cNvSpPr/>
          <p:nvPr/>
        </p:nvSpPr>
        <p:spPr>
          <a:xfrm>
            <a:off x="5112868" y="4663440"/>
            <a:ext cx="1965960" cy="685800"/>
          </a:xfrm>
          <a:prstGeom prst="roundRect">
            <a:avLst>
              <a:gd name="adj" fmla="val 10667"/>
            </a:avLst>
          </a:prstGeom>
          <a:solidFill>
            <a:schemeClr val="bg2"/>
          </a:solidFill>
          <a:ln w="12700">
            <a:solidFill>
              <a:schemeClr val="accent1"/>
            </a:solidFill>
            <a:prstDash val="solid"/>
          </a:ln>
        </p:spPr>
      </p:sp>
      <p:sp>
        <p:nvSpPr>
          <p:cNvPr id="14" name="Text 10"/>
          <p:cNvSpPr txBox="1"/>
          <p:nvPr/>
        </p:nvSpPr>
        <p:spPr>
          <a:xfrm>
            <a:off x="5112868" y="4663440"/>
            <a:ext cx="1965960" cy="685800"/>
          </a:xfrm>
          <a:prstGeom prst="rect">
            <a:avLst/>
          </a:prstGeom>
          <a:noFill/>
          <a:ln/>
        </p:spPr>
        <p:txBody>
          <a:bodyPr wrap="square" lIns="0" tIns="0" rIns="0" bIns="0" rtlCol="0" anchor="ctr"/>
          <a:lstStyle/>
          <a:p>
            <a:pPr algn="ctr" indent="0" marL="0">
              <a:buNone/>
            </a:pPr>
            <a:r>
              <a:rPr lang="en-US" sz="1400" dirty="0">
                <a:solidFill>
                  <a:schemeClr val="tx1"/>
                </a:solidFill>
              </a:rPr>
              <a:t>Median</a:t>
            </a:r>
            <a:endParaRPr lang="en-US" sz="1400" dirty="0"/>
          </a:p>
          <a:p>
            <a:pPr algn="ctr" indent="0" marL="0">
              <a:buNone/>
            </a:pPr>
            <a:r>
              <a:rPr lang="en-US" sz="1400" dirty="0">
                <a:solidFill>
                  <a:schemeClr val="tx1"/>
                </a:solidFill>
              </a:rPr>
              <a:t>centroid</a:t>
            </a:r>
            <a:endParaRPr lang="en-US" sz="1400" dirty="0"/>
          </a:p>
        </p:txBody>
      </p:sp>
      <p:sp>
        <p:nvSpPr>
          <p:cNvPr id="15" name="Shape 11"/>
          <p:cNvSpPr/>
          <p:nvPr/>
        </p:nvSpPr>
        <p:spPr>
          <a:xfrm>
            <a:off x="7106260" y="5006340"/>
            <a:ext cx="261290" cy="0"/>
          </a:xfrm>
          <a:prstGeom prst="line">
            <a:avLst/>
          </a:prstGeom>
          <a:noFill/>
          <a:ln w="25400">
            <a:solidFill>
              <a:schemeClr val="accent5"/>
            </a:solidFill>
            <a:prstDash val="solid"/>
            <a:tailEnd type="triangle"/>
          </a:ln>
        </p:spPr>
      </p:sp>
      <p:sp>
        <p:nvSpPr>
          <p:cNvPr id="16" name="Shape 12"/>
          <p:cNvSpPr/>
          <p:nvPr/>
        </p:nvSpPr>
        <p:spPr>
          <a:xfrm>
            <a:off x="7394981" y="4663440"/>
            <a:ext cx="1965960" cy="685800"/>
          </a:xfrm>
          <a:prstGeom prst="roundRect">
            <a:avLst>
              <a:gd name="adj" fmla="val 10667"/>
            </a:avLst>
          </a:prstGeom>
          <a:solidFill>
            <a:schemeClr val="bg2"/>
          </a:solidFill>
          <a:ln w="12700">
            <a:solidFill>
              <a:schemeClr val="accent1"/>
            </a:solidFill>
            <a:prstDash val="solid"/>
          </a:ln>
        </p:spPr>
      </p:sp>
      <p:sp>
        <p:nvSpPr>
          <p:cNvPr id="17" name="Text 13"/>
          <p:cNvSpPr txBox="1"/>
          <p:nvPr/>
        </p:nvSpPr>
        <p:spPr>
          <a:xfrm>
            <a:off x="7394981" y="4663440"/>
            <a:ext cx="1965960" cy="685800"/>
          </a:xfrm>
          <a:prstGeom prst="rect">
            <a:avLst/>
          </a:prstGeom>
          <a:noFill/>
          <a:ln/>
        </p:spPr>
        <p:txBody>
          <a:bodyPr wrap="square" lIns="0" tIns="0" rIns="0" bIns="0" rtlCol="0" anchor="ctr"/>
          <a:lstStyle/>
          <a:p>
            <a:pPr algn="ctr" indent="0" marL="0">
              <a:buNone/>
            </a:pPr>
            <a:r>
              <a:rPr lang="en-US" sz="1400" dirty="0">
                <a:solidFill>
                  <a:schemeClr val="tx1"/>
                </a:solidFill>
              </a:rPr>
              <a:t>Fuse 2 cameras</a:t>
            </a:r>
            <a:endParaRPr lang="en-US" sz="1400" dirty="0"/>
          </a:p>
          <a:p>
            <a:pPr algn="ctr" indent="0" marL="0">
              <a:buNone/>
            </a:pPr>
            <a:r>
              <a:rPr lang="en-US" sz="1400" dirty="0">
                <a:solidFill>
                  <a:schemeClr val="tx1"/>
                </a:solidFill>
              </a:rPr>
              <a:t>(0.10 m radius)</a:t>
            </a:r>
            <a:endParaRPr lang="en-US" sz="1400" dirty="0"/>
          </a:p>
        </p:txBody>
      </p:sp>
      <p:sp>
        <p:nvSpPr>
          <p:cNvPr id="18" name="Shape 14"/>
          <p:cNvSpPr/>
          <p:nvPr/>
        </p:nvSpPr>
        <p:spPr>
          <a:xfrm>
            <a:off x="9388373" y="5006340"/>
            <a:ext cx="261290" cy="0"/>
          </a:xfrm>
          <a:prstGeom prst="line">
            <a:avLst/>
          </a:prstGeom>
          <a:noFill/>
          <a:ln w="25400">
            <a:solidFill>
              <a:schemeClr val="accent5"/>
            </a:solidFill>
            <a:prstDash val="solid"/>
            <a:tailEnd type="triangle"/>
          </a:ln>
        </p:spPr>
      </p:sp>
      <p:sp>
        <p:nvSpPr>
          <p:cNvPr id="19" name="Shape 15"/>
          <p:cNvSpPr/>
          <p:nvPr/>
        </p:nvSpPr>
        <p:spPr>
          <a:xfrm>
            <a:off x="9677095" y="4663440"/>
            <a:ext cx="1965960" cy="685800"/>
          </a:xfrm>
          <a:prstGeom prst="roundRect">
            <a:avLst>
              <a:gd name="adj" fmla="val 10667"/>
            </a:avLst>
          </a:prstGeom>
          <a:solidFill>
            <a:schemeClr val="bg2"/>
          </a:solidFill>
          <a:ln w="12700">
            <a:solidFill>
              <a:schemeClr val="accent1"/>
            </a:solidFill>
            <a:prstDash val="solid"/>
          </a:ln>
        </p:spPr>
      </p:sp>
      <p:sp>
        <p:nvSpPr>
          <p:cNvPr id="20" name="Text 16"/>
          <p:cNvSpPr txBox="1"/>
          <p:nvPr/>
        </p:nvSpPr>
        <p:spPr>
          <a:xfrm>
            <a:off x="9677095" y="4663440"/>
            <a:ext cx="1965960" cy="685800"/>
          </a:xfrm>
          <a:prstGeom prst="rect">
            <a:avLst/>
          </a:prstGeom>
          <a:noFill/>
          <a:ln/>
        </p:spPr>
        <p:txBody>
          <a:bodyPr wrap="square" lIns="0" tIns="0" rIns="0" bIns="0" rtlCol="0" anchor="ctr"/>
          <a:lstStyle/>
          <a:p>
            <a:pPr algn="ctr" indent="0" marL="0">
              <a:buNone/>
            </a:pPr>
            <a:r>
              <a:rPr lang="en-US" sz="1400" dirty="0">
                <a:solidFill>
                  <a:schemeClr val="tx1"/>
                </a:solidFill>
              </a:rPr>
              <a:t>Track +</a:t>
            </a:r>
            <a:endParaRPr lang="en-US" sz="1400" dirty="0"/>
          </a:p>
          <a:p>
            <a:pPr algn="ctr" indent="0" marL="0">
              <a:buNone/>
            </a:pPr>
            <a:r>
              <a:rPr lang="en-US" sz="1400" dirty="0">
                <a:solidFill>
                  <a:schemeClr val="tx1"/>
                </a:solidFill>
              </a:rPr>
              <a:t>label vote</a:t>
            </a:r>
            <a:endParaRPr lang="en-US" sz="1400" dirty="0"/>
          </a:p>
        </p:txBody>
      </p:sp>
      <p:sp>
        <p:nvSpPr>
          <p:cNvPr id="21" name="Shape 17"/>
          <p:cNvSpPr/>
          <p:nvPr/>
        </p:nvSpPr>
        <p:spPr>
          <a:xfrm>
            <a:off x="548640" y="5577840"/>
            <a:ext cx="11094415" cy="502920"/>
          </a:xfrm>
          <a:prstGeom prst="rect">
            <a:avLst/>
          </a:prstGeom>
          <a:solidFill>
            <a:schemeClr val="bg1"/>
          </a:solidFill>
          <a:ln w="19050">
            <a:solidFill>
              <a:schemeClr val="tx1"/>
            </a:solidFill>
            <a:prstDash val="solid"/>
          </a:ln>
        </p:spPr>
      </p:sp>
      <p:sp>
        <p:nvSpPr>
          <p:cNvPr id="22" name="Text 18"/>
          <p:cNvSpPr txBox="1"/>
          <p:nvPr/>
        </p:nvSpPr>
        <p:spPr>
          <a:xfrm>
            <a:off x="685800" y="5577840"/>
            <a:ext cx="10820095" cy="502920"/>
          </a:xfrm>
          <a:prstGeom prst="rect">
            <a:avLst/>
          </a:prstGeom>
          <a:noFill/>
          <a:ln/>
        </p:spPr>
        <p:txBody>
          <a:bodyPr wrap="square" lIns="0" tIns="0" rIns="0" bIns="0" rtlCol="0" anchor="ctr"/>
          <a:lstStyle/>
          <a:p>
            <a:pPr indent="0" marL="0">
              <a:buNone/>
            </a:pPr>
            <a:r>
              <a:rPr lang="en-US" sz="1500" dirty="0">
                <a:solidFill>
                  <a:schemeClr val="tx1"/>
                </a:solidFill>
              </a:rPr>
              <a:t>YOLOE check (3864 detections): </a:t>
            </a:r>
            <a:pPr indent="0" marL="0">
              <a:buNone/>
            </a:pPr>
            <a:r>
              <a:rPr lang="en-US" sz="1500" b="1" u="sng" dirty="0">
                <a:solidFill>
                  <a:schemeClr val="tx1"/>
                </a:solidFill>
              </a:rPr>
              <a:t>100% detection</a:t>
            </a:r>
            <a:pPr indent="0" marL="0">
              <a:buNone/>
            </a:pPr>
            <a:r>
              <a:rPr lang="en-US" sz="1500" dirty="0">
                <a:solidFill>
                  <a:schemeClr val="tx1"/>
                </a:solidFill>
              </a:rPr>
              <a:t>,  0.023 m mean localization error,  0% false positives</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chemeClr val="tx2"/>
                </a:solidFill>
              </a:rPr>
              <a:t>Subsystem 2: Base-Aware GNG Capability Map</a:t>
            </a:r>
            <a:endParaRPr lang="en-US" sz="3200" dirty="0"/>
          </a:p>
        </p:txBody>
      </p:sp>
      <p:sp>
        <p:nvSpPr>
          <p:cNvPr id="3" name="Shape 1"/>
          <p:cNvSpPr/>
          <p:nvPr/>
        </p:nvSpPr>
        <p:spPr>
          <a:xfrm>
            <a:off x="548640" y="1280160"/>
            <a:ext cx="384048" cy="384048"/>
          </a:xfrm>
          <a:prstGeom prst="ellipse">
            <a:avLst/>
          </a:prstGeom>
          <a:solidFill>
            <a:schemeClr val="accent1"/>
          </a:solidFill>
          <a:ln w="12700">
            <a:solidFill>
              <a:schemeClr val="accent1"/>
            </a:solidFill>
            <a:prstDash val="solid"/>
          </a:ln>
        </p:spPr>
      </p:sp>
      <p:sp>
        <p:nvSpPr>
          <p:cNvPr id="4" name="Text 2"/>
          <p:cNvSpPr txBox="1"/>
          <p:nvPr/>
        </p:nvSpPr>
        <p:spPr>
          <a:xfrm>
            <a:off x="548640" y="128016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097280" y="1261872"/>
            <a:ext cx="4846320" cy="384048"/>
          </a:xfrm>
          <a:prstGeom prst="rect">
            <a:avLst/>
          </a:prstGeom>
          <a:noFill/>
          <a:ln/>
        </p:spPr>
        <p:txBody>
          <a:bodyPr wrap="square" lIns="0" tIns="0" rIns="0" bIns="0" rtlCol="0" anchor="ctr"/>
          <a:lstStyle/>
          <a:p>
            <a:pPr indent="0" marL="0">
              <a:buNone/>
            </a:pPr>
            <a:r>
              <a:rPr lang="en-US" sz="1800" b="1" dirty="0">
                <a:solidFill>
                  <a:schemeClr val="tx2"/>
                </a:solidFill>
              </a:rPr>
              <a:t>Sample configurations</a:t>
            </a:r>
            <a:endParaRPr lang="en-US" sz="1800" dirty="0"/>
          </a:p>
        </p:txBody>
      </p:sp>
      <p:sp>
        <p:nvSpPr>
          <p:cNvPr id="6" name="Text 4"/>
          <p:cNvSpPr txBox="1"/>
          <p:nvPr/>
        </p:nvSpPr>
        <p:spPr>
          <a:xfrm>
            <a:off x="1097280" y="1691640"/>
            <a:ext cx="4846320" cy="960120"/>
          </a:xfrm>
          <a:prstGeom prst="rect">
            <a:avLst/>
          </a:prstGeom>
          <a:noFill/>
          <a:ln/>
        </p:spPr>
        <p:txBody>
          <a:bodyPr wrap="square" lIns="0" tIns="0" rIns="0" bIns="0" rtlCol="0" anchor="t"/>
          <a:lstStyle/>
          <a:p>
            <a:pPr indent="0" marL="0">
              <a:buNone/>
            </a:pPr>
            <a:r>
              <a:rPr lang="en-US" sz="1500" dirty="0">
                <a:solidFill>
                  <a:schemeClr val="tx1"/>
                </a:solidFill>
              </a:rPr>
              <a:t>80,000 random 8-DOF configs </a:t>
            </a:r>
            <a:pPr indent="0" marL="0">
              <a:buNone/>
            </a:pPr>
            <a:r>
              <a:rPr lang="en-US" sz="1500" i="1" dirty="0">
                <a:solidFill>
                  <a:schemeClr val="tx1"/>
                </a:solidFill>
              </a:rPr>
              <a:t>q = [d, θ, q1…q6]</a:t>
            </a:r>
            <a:pPr indent="0" marL="0">
              <a:buNone/>
            </a:pPr>
            <a:r>
              <a:rPr lang="en-US" sz="1500" dirty="0">
                <a:solidFill>
                  <a:schemeClr val="tx1"/>
                </a:solidFill>
              </a:rPr>
              <a:t>. Forward kinematics (Pinocchio) + manipulability w = √det(JJᵀ).</a:t>
            </a:r>
            <a:endParaRPr lang="en-US" sz="1500" dirty="0"/>
          </a:p>
        </p:txBody>
      </p:sp>
      <p:sp>
        <p:nvSpPr>
          <p:cNvPr id="7" name="Shape 5"/>
          <p:cNvSpPr/>
          <p:nvPr/>
        </p:nvSpPr>
        <p:spPr>
          <a:xfrm>
            <a:off x="548640" y="2743200"/>
            <a:ext cx="384048" cy="384048"/>
          </a:xfrm>
          <a:prstGeom prst="ellipse">
            <a:avLst/>
          </a:prstGeom>
          <a:solidFill>
            <a:schemeClr val="accent1"/>
          </a:solidFill>
          <a:ln w="12700">
            <a:solidFill>
              <a:schemeClr val="accent1"/>
            </a:solidFill>
            <a:prstDash val="solid"/>
          </a:ln>
        </p:spPr>
      </p:sp>
      <p:sp>
        <p:nvSpPr>
          <p:cNvPr id="8" name="Text 6"/>
          <p:cNvSpPr txBox="1"/>
          <p:nvPr/>
        </p:nvSpPr>
        <p:spPr>
          <a:xfrm>
            <a:off x="548640" y="27432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1097280" y="2724912"/>
            <a:ext cx="4846320" cy="384048"/>
          </a:xfrm>
          <a:prstGeom prst="rect">
            <a:avLst/>
          </a:prstGeom>
          <a:noFill/>
          <a:ln/>
        </p:spPr>
        <p:txBody>
          <a:bodyPr wrap="square" lIns="0" tIns="0" rIns="0" bIns="0" rtlCol="0" anchor="ctr"/>
          <a:lstStyle/>
          <a:p>
            <a:pPr indent="0" marL="0">
              <a:buNone/>
            </a:pPr>
            <a:r>
              <a:rPr lang="en-US" sz="1800" b="1" dirty="0">
                <a:solidFill>
                  <a:schemeClr val="tx2"/>
                </a:solidFill>
              </a:rPr>
              <a:t>Grow the GNG</a:t>
            </a:r>
            <a:endParaRPr lang="en-US" sz="1800" dirty="0"/>
          </a:p>
        </p:txBody>
      </p:sp>
      <p:sp>
        <p:nvSpPr>
          <p:cNvPr id="10" name="Text 8"/>
          <p:cNvSpPr txBox="1"/>
          <p:nvPr/>
        </p:nvSpPr>
        <p:spPr>
          <a:xfrm>
            <a:off x="1097280" y="3154680"/>
            <a:ext cx="4846320" cy="960120"/>
          </a:xfrm>
          <a:prstGeom prst="rect">
            <a:avLst/>
          </a:prstGeom>
          <a:noFill/>
          <a:ln/>
        </p:spPr>
        <p:txBody>
          <a:bodyPr wrap="square" lIns="0" tIns="0" rIns="0" bIns="0" rtlCol="0" anchor="t"/>
          <a:lstStyle/>
          <a:p>
            <a:pPr indent="0" marL="0">
              <a:buNone/>
            </a:pPr>
            <a:r>
              <a:rPr lang="en-US" sz="1500" dirty="0">
                <a:solidFill>
                  <a:schemeClr val="tx1"/>
                </a:solidFill>
              </a:rPr>
              <a:t>Each node stores </a:t>
            </a:r>
            <a:pPr indent="0" marL="0">
              <a:buNone/>
            </a:pPr>
            <a:r>
              <a:rPr lang="en-US" sz="1500" b="1" u="sng" dirty="0">
                <a:solidFill>
                  <a:schemeClr val="tx1"/>
                </a:solidFill>
              </a:rPr>
              <a:t>[ x | q ]</a:t>
            </a:r>
            <a:pPr indent="0" marL="0">
              <a:buNone/>
            </a:pPr>
            <a:r>
              <a:rPr lang="en-US" sz="1500" dirty="0">
                <a:solidFill>
                  <a:schemeClr val="tx1"/>
                </a:solidFill>
              </a:rPr>
              <a:t>: a reachable point AND a representative 8-DOF config, rail placement included.</a:t>
            </a:r>
            <a:endParaRPr lang="en-US" sz="1500" dirty="0"/>
          </a:p>
        </p:txBody>
      </p:sp>
      <p:sp>
        <p:nvSpPr>
          <p:cNvPr id="11" name="Shape 9"/>
          <p:cNvSpPr/>
          <p:nvPr/>
        </p:nvSpPr>
        <p:spPr>
          <a:xfrm>
            <a:off x="548640" y="4206240"/>
            <a:ext cx="384048" cy="384048"/>
          </a:xfrm>
          <a:prstGeom prst="ellipse">
            <a:avLst/>
          </a:prstGeom>
          <a:solidFill>
            <a:schemeClr val="accent1"/>
          </a:solidFill>
          <a:ln w="12700">
            <a:solidFill>
              <a:schemeClr val="accent1"/>
            </a:solidFill>
            <a:prstDash val="solid"/>
          </a:ln>
        </p:spPr>
      </p:sp>
      <p:sp>
        <p:nvSpPr>
          <p:cNvPr id="12" name="Text 10"/>
          <p:cNvSpPr txBox="1"/>
          <p:nvPr/>
        </p:nvSpPr>
        <p:spPr>
          <a:xfrm>
            <a:off x="548640" y="420624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1"/>
          <p:cNvSpPr txBox="1"/>
          <p:nvPr/>
        </p:nvSpPr>
        <p:spPr>
          <a:xfrm>
            <a:off x="1097280" y="4187952"/>
            <a:ext cx="4846320" cy="384048"/>
          </a:xfrm>
          <a:prstGeom prst="rect">
            <a:avLst/>
          </a:prstGeom>
          <a:noFill/>
          <a:ln/>
        </p:spPr>
        <p:txBody>
          <a:bodyPr wrap="square" lIns="0" tIns="0" rIns="0" bIns="0" rtlCol="0" anchor="ctr"/>
          <a:lstStyle/>
          <a:p>
            <a:pPr indent="0" marL="0">
              <a:buNone/>
            </a:pPr>
            <a:r>
              <a:rPr lang="en-US" sz="1800" b="1" dirty="0">
                <a:solidFill>
                  <a:schemeClr val="tx2"/>
                </a:solidFill>
              </a:rPr>
              <a:t>Boundary seeding</a:t>
            </a:r>
            <a:endParaRPr lang="en-US" sz="1800" dirty="0"/>
          </a:p>
        </p:txBody>
      </p:sp>
      <p:sp>
        <p:nvSpPr>
          <p:cNvPr id="14" name="Text 12"/>
          <p:cNvSpPr txBox="1"/>
          <p:nvPr/>
        </p:nvSpPr>
        <p:spPr>
          <a:xfrm>
            <a:off x="1097280" y="4617720"/>
            <a:ext cx="4846320" cy="960120"/>
          </a:xfrm>
          <a:prstGeom prst="rect">
            <a:avLst/>
          </a:prstGeom>
          <a:noFill/>
          <a:ln/>
        </p:spPr>
        <p:txBody>
          <a:bodyPr wrap="square" lIns="0" tIns="0" rIns="0" bIns="0" rtlCol="0" anchor="t"/>
          <a:lstStyle/>
          <a:p>
            <a:pPr indent="0" marL="0">
              <a:buNone/>
            </a:pPr>
            <a:r>
              <a:rPr lang="en-US" sz="1500" dirty="0">
                <a:solidFill>
                  <a:schemeClr val="tx1"/>
                </a:solidFill>
              </a:rPr>
              <a:t>Pin 600 nodes on the measured reach surface first, so the map does not shrink inward at the edge.</a:t>
            </a:r>
            <a:endParaRPr lang="en-US" sz="1500" dirty="0"/>
          </a:p>
        </p:txBody>
      </p:sp>
      <p:pic>
        <p:nvPicPr>
          <p:cNvPr id="15" name="GNG capability map" descr="/tmp/claude-1003/-srv-data-users-raditya-arm-WS-ceiling-arm/be5ae870-e296-4224-b9f7-0876347de272/scratchpad/deck/img/gng_capability.png">    </p:cNvPr>
          <p:cNvPicPr>
            <a:picLocks noChangeAspect="1"/>
          </p:cNvPicPr>
          <p:nvPr/>
        </p:nvPicPr>
        <p:blipFill>
          <a:blip r:embed="rId1"/>
          <a:stretch>
            <a:fillRect/>
          </a:stretch>
        </p:blipFill>
        <p:spPr>
          <a:xfrm>
            <a:off x="6153912" y="1188720"/>
            <a:ext cx="5486400" cy="2788920"/>
          </a:xfrm>
          <a:prstGeom prst="rect">
            <a:avLst/>
          </a:prstGeom>
        </p:spPr>
      </p:pic>
      <p:sp>
        <p:nvSpPr>
          <p:cNvPr id="16" name="Text 13"/>
          <p:cNvSpPr txBox="1"/>
          <p:nvPr/>
        </p:nvSpPr>
        <p:spPr>
          <a:xfrm>
            <a:off x="6153912" y="4023360"/>
            <a:ext cx="5486400" cy="274320"/>
          </a:xfrm>
          <a:prstGeom prst="rect">
            <a:avLst/>
          </a:prstGeom>
          <a:noFill/>
          <a:ln/>
        </p:spPr>
        <p:txBody>
          <a:bodyPr wrap="square" lIns="0" tIns="0" rIns="0" bIns="0" rtlCol="0" anchor="t"/>
          <a:lstStyle/>
          <a:p>
            <a:pPr indent="0" marL="0">
              <a:buNone/>
            </a:pPr>
            <a:r>
              <a:rPr lang="en-US" sz="1100" i="1" dirty="0">
                <a:solidFill>
                  <a:schemeClr val="accent5"/>
                </a:solidFill>
              </a:rPr>
              <a:t>GNG capability map of one arm (RViz)</a:t>
            </a:r>
            <a:endParaRPr lang="en-US" sz="1100" dirty="0"/>
          </a:p>
        </p:txBody>
      </p:sp>
      <p:sp>
        <p:nvSpPr>
          <p:cNvPr id="17" name="map stat"/>
          <p:cNvSpPr/>
          <p:nvPr/>
        </p:nvSpPr>
        <p:spPr>
          <a:xfrm>
            <a:off x="6153912" y="4526280"/>
            <a:ext cx="1289304" cy="1051560"/>
          </a:xfrm>
          <a:prstGeom prst="rect">
            <a:avLst/>
          </a:prstGeom>
          <a:solidFill>
            <a:schemeClr val="bg2"/>
          </a:solidFill>
          <a:ln w="12700">
            <a:solidFill>
              <a:schemeClr val="bg2"/>
            </a:solidFill>
            <a:prstDash val="solid"/>
          </a:ln>
        </p:spPr>
      </p:sp>
      <p:sp>
        <p:nvSpPr>
          <p:cNvPr id="18" name="Text 15"/>
          <p:cNvSpPr txBox="1"/>
          <p:nvPr/>
        </p:nvSpPr>
        <p:spPr>
          <a:xfrm>
            <a:off x="6153912" y="4572000"/>
            <a:ext cx="1289304" cy="548640"/>
          </a:xfrm>
          <a:prstGeom prst="rect">
            <a:avLst/>
          </a:prstGeom>
          <a:noFill/>
          <a:ln/>
        </p:spPr>
        <p:txBody>
          <a:bodyPr wrap="square" lIns="0" tIns="0" rIns="0" bIns="0" rtlCol="0" anchor="ctr"/>
          <a:lstStyle/>
          <a:p>
            <a:pPr algn="ctr" indent="0" marL="0">
              <a:buNone/>
            </a:pPr>
            <a:r>
              <a:rPr lang="en-US" sz="2200" b="1" dirty="0">
                <a:solidFill>
                  <a:schemeClr val="tx2"/>
                </a:solidFill>
              </a:rPr>
              <a:t>2915</a:t>
            </a:r>
            <a:endParaRPr lang="en-US" sz="2200" dirty="0"/>
          </a:p>
        </p:txBody>
      </p:sp>
      <p:sp>
        <p:nvSpPr>
          <p:cNvPr id="19" name="Text 16"/>
          <p:cNvSpPr txBox="1"/>
          <p:nvPr/>
        </p:nvSpPr>
        <p:spPr>
          <a:xfrm>
            <a:off x="6153912" y="5120640"/>
            <a:ext cx="1289304" cy="365760"/>
          </a:xfrm>
          <a:prstGeom prst="rect">
            <a:avLst/>
          </a:prstGeom>
          <a:noFill/>
          <a:ln/>
        </p:spPr>
        <p:txBody>
          <a:bodyPr wrap="square" lIns="0" tIns="0" rIns="0" bIns="0" rtlCol="0" anchor="t"/>
          <a:lstStyle/>
          <a:p>
            <a:pPr algn="ctr" indent="0" marL="0">
              <a:buNone/>
            </a:pPr>
            <a:r>
              <a:rPr lang="en-US" sz="1200" dirty="0">
                <a:solidFill>
                  <a:schemeClr val="tx1"/>
                </a:solidFill>
              </a:rPr>
              <a:t>nodes</a:t>
            </a:r>
            <a:endParaRPr lang="en-US" sz="1200" dirty="0"/>
          </a:p>
        </p:txBody>
      </p:sp>
      <p:sp>
        <p:nvSpPr>
          <p:cNvPr id="20" name="map stat"/>
          <p:cNvSpPr/>
          <p:nvPr/>
        </p:nvSpPr>
        <p:spPr>
          <a:xfrm>
            <a:off x="7552944" y="4526280"/>
            <a:ext cx="1289304" cy="1051560"/>
          </a:xfrm>
          <a:prstGeom prst="rect">
            <a:avLst/>
          </a:prstGeom>
          <a:solidFill>
            <a:schemeClr val="bg2"/>
          </a:solidFill>
          <a:ln w="12700">
            <a:solidFill>
              <a:schemeClr val="bg2"/>
            </a:solidFill>
            <a:prstDash val="solid"/>
          </a:ln>
        </p:spPr>
      </p:sp>
      <p:sp>
        <p:nvSpPr>
          <p:cNvPr id="21" name="Text 18"/>
          <p:cNvSpPr txBox="1"/>
          <p:nvPr/>
        </p:nvSpPr>
        <p:spPr>
          <a:xfrm>
            <a:off x="7552944" y="4572000"/>
            <a:ext cx="1289304" cy="548640"/>
          </a:xfrm>
          <a:prstGeom prst="rect">
            <a:avLst/>
          </a:prstGeom>
          <a:noFill/>
          <a:ln/>
        </p:spPr>
        <p:txBody>
          <a:bodyPr wrap="square" lIns="0" tIns="0" rIns="0" bIns="0" rtlCol="0" anchor="ctr"/>
          <a:lstStyle/>
          <a:p>
            <a:pPr algn="ctr" indent="0" marL="0">
              <a:buNone/>
            </a:pPr>
            <a:r>
              <a:rPr lang="en-US" sz="2200" b="1" dirty="0">
                <a:solidFill>
                  <a:schemeClr val="tx2"/>
                </a:solidFill>
              </a:rPr>
              <a:t>0.090 m</a:t>
            </a:r>
            <a:endParaRPr lang="en-US" sz="2200" dirty="0"/>
          </a:p>
        </p:txBody>
      </p:sp>
      <p:sp>
        <p:nvSpPr>
          <p:cNvPr id="22" name="Text 19"/>
          <p:cNvSpPr txBox="1"/>
          <p:nvPr/>
        </p:nvSpPr>
        <p:spPr>
          <a:xfrm>
            <a:off x="7552944" y="5120640"/>
            <a:ext cx="1289304" cy="365760"/>
          </a:xfrm>
          <a:prstGeom prst="rect">
            <a:avLst/>
          </a:prstGeom>
          <a:noFill/>
          <a:ln/>
        </p:spPr>
        <p:txBody>
          <a:bodyPr wrap="square" lIns="0" tIns="0" rIns="0" bIns="0" rtlCol="0" anchor="t"/>
          <a:lstStyle/>
          <a:p>
            <a:pPr algn="ctr" indent="0" marL="0">
              <a:buNone/>
            </a:pPr>
            <a:r>
              <a:rPr lang="en-US" sz="1200" dirty="0">
                <a:solidFill>
                  <a:schemeClr val="tx1"/>
                </a:solidFill>
              </a:rPr>
              <a:t>median spacing</a:t>
            </a:r>
            <a:endParaRPr lang="en-US" sz="1200" dirty="0"/>
          </a:p>
        </p:txBody>
      </p:sp>
      <p:sp>
        <p:nvSpPr>
          <p:cNvPr id="23" name="map stat"/>
          <p:cNvSpPr/>
          <p:nvPr/>
        </p:nvSpPr>
        <p:spPr>
          <a:xfrm>
            <a:off x="8951976" y="4526280"/>
            <a:ext cx="1289304" cy="1051560"/>
          </a:xfrm>
          <a:prstGeom prst="rect">
            <a:avLst/>
          </a:prstGeom>
          <a:solidFill>
            <a:schemeClr val="bg2"/>
          </a:solidFill>
          <a:ln w="12700">
            <a:solidFill>
              <a:schemeClr val="bg2"/>
            </a:solidFill>
            <a:prstDash val="solid"/>
          </a:ln>
        </p:spPr>
      </p:sp>
      <p:sp>
        <p:nvSpPr>
          <p:cNvPr id="24" name="Text 21"/>
          <p:cNvSpPr txBox="1"/>
          <p:nvPr/>
        </p:nvSpPr>
        <p:spPr>
          <a:xfrm>
            <a:off x="8951976" y="4572000"/>
            <a:ext cx="1289304" cy="548640"/>
          </a:xfrm>
          <a:prstGeom prst="rect">
            <a:avLst/>
          </a:prstGeom>
          <a:noFill/>
          <a:ln/>
        </p:spPr>
        <p:txBody>
          <a:bodyPr wrap="square" lIns="0" tIns="0" rIns="0" bIns="0" rtlCol="0" anchor="ctr"/>
          <a:lstStyle/>
          <a:p>
            <a:pPr algn="ctr" indent="0" marL="0">
              <a:buNone/>
            </a:pPr>
            <a:r>
              <a:rPr lang="en-US" sz="2200" b="1" dirty="0">
                <a:solidFill>
                  <a:schemeClr val="tx2"/>
                </a:solidFill>
              </a:rPr>
              <a:t>~14,500</a:t>
            </a:r>
            <a:endParaRPr lang="en-US" sz="2200" dirty="0"/>
          </a:p>
        </p:txBody>
      </p:sp>
      <p:sp>
        <p:nvSpPr>
          <p:cNvPr id="25" name="Text 22"/>
          <p:cNvSpPr txBox="1"/>
          <p:nvPr/>
        </p:nvSpPr>
        <p:spPr>
          <a:xfrm>
            <a:off x="8951976" y="5120640"/>
            <a:ext cx="1289304" cy="365760"/>
          </a:xfrm>
          <a:prstGeom prst="rect">
            <a:avLst/>
          </a:prstGeom>
          <a:noFill/>
          <a:ln/>
        </p:spPr>
        <p:txBody>
          <a:bodyPr wrap="square" lIns="0" tIns="0" rIns="0" bIns="0" rtlCol="0" anchor="t"/>
          <a:lstStyle/>
          <a:p>
            <a:pPr algn="ctr" indent="0" marL="0">
              <a:buNone/>
            </a:pPr>
            <a:r>
              <a:rPr lang="en-US" sz="1200" dirty="0">
                <a:solidFill>
                  <a:schemeClr val="tx1"/>
                </a:solidFill>
              </a:rPr>
              <a:t>edges</a:t>
            </a:r>
            <a:endParaRPr lang="en-US" sz="1200" dirty="0"/>
          </a:p>
        </p:txBody>
      </p:sp>
      <p:sp>
        <p:nvSpPr>
          <p:cNvPr id="26" name="map stat"/>
          <p:cNvSpPr/>
          <p:nvPr/>
        </p:nvSpPr>
        <p:spPr>
          <a:xfrm>
            <a:off x="10351008" y="4526280"/>
            <a:ext cx="1289304" cy="1051560"/>
          </a:xfrm>
          <a:prstGeom prst="rect">
            <a:avLst/>
          </a:prstGeom>
          <a:solidFill>
            <a:schemeClr val="bg2"/>
          </a:solidFill>
          <a:ln w="12700">
            <a:solidFill>
              <a:schemeClr val="bg2"/>
            </a:solidFill>
            <a:prstDash val="solid"/>
          </a:ln>
        </p:spPr>
      </p:sp>
      <p:sp>
        <p:nvSpPr>
          <p:cNvPr id="27" name="Text 24"/>
          <p:cNvSpPr txBox="1"/>
          <p:nvPr/>
        </p:nvSpPr>
        <p:spPr>
          <a:xfrm>
            <a:off x="10351008" y="4572000"/>
            <a:ext cx="1289304" cy="548640"/>
          </a:xfrm>
          <a:prstGeom prst="rect">
            <a:avLst/>
          </a:prstGeom>
          <a:noFill/>
          <a:ln/>
        </p:spPr>
        <p:txBody>
          <a:bodyPr wrap="square" lIns="0" tIns="0" rIns="0" bIns="0" rtlCol="0" anchor="ctr"/>
          <a:lstStyle/>
          <a:p>
            <a:pPr algn="ctr" indent="0" marL="0">
              <a:buNone/>
            </a:pPr>
            <a:r>
              <a:rPr lang="en-US" sz="2200" b="1" dirty="0">
                <a:solidFill>
                  <a:schemeClr val="tx2"/>
                </a:solidFill>
              </a:rPr>
              <a:t>8</a:t>
            </a:r>
            <a:endParaRPr lang="en-US" sz="2200" dirty="0"/>
          </a:p>
        </p:txBody>
      </p:sp>
      <p:sp>
        <p:nvSpPr>
          <p:cNvPr id="28" name="Text 25"/>
          <p:cNvSpPr txBox="1"/>
          <p:nvPr/>
        </p:nvSpPr>
        <p:spPr>
          <a:xfrm>
            <a:off x="10351008" y="5120640"/>
            <a:ext cx="1289304" cy="365760"/>
          </a:xfrm>
          <a:prstGeom prst="rect">
            <a:avLst/>
          </a:prstGeom>
          <a:noFill/>
          <a:ln/>
        </p:spPr>
        <p:txBody>
          <a:bodyPr wrap="square" lIns="0" tIns="0" rIns="0" bIns="0" rtlCol="0" anchor="t"/>
          <a:lstStyle/>
          <a:p>
            <a:pPr algn="ctr" indent="0" marL="0">
              <a:buNone/>
            </a:pPr>
            <a:r>
              <a:rPr lang="en-US" sz="1200" dirty="0">
                <a:solidFill>
                  <a:schemeClr val="tx1"/>
                </a:solidFill>
              </a:rPr>
              <a:t>DOF per node</a:t>
            </a:r>
            <a:endParaRPr lang="en-US" sz="1200" dirty="0"/>
          </a:p>
        </p:txBody>
      </p:sp>
      <p:sp>
        <p:nvSpPr>
          <p:cNvPr id="29" name="Text 26"/>
          <p:cNvSpPr txBox="1"/>
          <p:nvPr/>
        </p:nvSpPr>
        <p:spPr>
          <a:xfrm>
            <a:off x="6153912" y="5715000"/>
            <a:ext cx="5486400" cy="365760"/>
          </a:xfrm>
          <a:prstGeom prst="rect">
            <a:avLst/>
          </a:prstGeom>
          <a:noFill/>
          <a:ln/>
        </p:spPr>
        <p:txBody>
          <a:bodyPr wrap="square" lIns="0" tIns="0" rIns="0" bIns="0" rtlCol="0" anchor="t"/>
          <a:lstStyle/>
          <a:p>
            <a:pPr indent="0" marL="0">
              <a:buNone/>
            </a:pPr>
            <a:r>
              <a:rPr lang="en-US" sz="1300" dirty="0">
                <a:solidFill>
                  <a:schemeClr val="accent5"/>
                </a:solidFill>
              </a:rPr>
              <a:t>BMU search uses position x only; adaptation updates the whole vector [x | q].</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chemeClr val="tx2"/>
                </a:solidFill>
              </a:rPr>
              <a:t>Map Result: Rail as DOF and Boundary Seeding</a:t>
            </a:r>
            <a:endParaRPr lang="en-US" sz="3200" dirty="0"/>
          </a:p>
        </p:txBody>
      </p:sp>
      <p:graphicFrame>
        <p:nvGraphicFramePr>
          <p:cNvPr id="3" name="Chart 0" descr=""/>
          <p:cNvGraphicFramePr/>
          <p:nvPr/>
        </p:nvGraphicFramePr>
        <p:xfrm>
          <a:off x="548640" y="1234440"/>
          <a:ext cx="5394960" cy="356616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245352" y="1234440"/>
          <a:ext cx="5394960" cy="3566160"/>
        </p:xfrm>
        <a:graphic xmlns:a="http://schemas.openxmlformats.org/drawingml/2006/main">
          <a:graphicData uri="http://schemas.openxmlformats.org/drawingml/2006/chart">
            <c:chart xmlns:c="http://schemas.openxmlformats.org/drawingml/2006/chart" r:id="rId2"/>
          </a:graphicData>
        </a:graphic>
      </p:graphicFrame>
      <p:sp>
        <p:nvSpPr>
          <p:cNvPr id="5" name="Shape 1"/>
          <p:cNvSpPr/>
          <p:nvPr/>
        </p:nvSpPr>
        <p:spPr>
          <a:xfrm>
            <a:off x="548640" y="4983480"/>
            <a:ext cx="5394960" cy="1051560"/>
          </a:xfrm>
          <a:prstGeom prst="rect">
            <a:avLst/>
          </a:prstGeom>
          <a:solidFill>
            <a:schemeClr val="bg1"/>
          </a:solidFill>
          <a:ln w="25400">
            <a:solidFill>
              <a:schemeClr val="tx1"/>
            </a:solidFill>
            <a:prstDash val="solid"/>
          </a:ln>
        </p:spPr>
      </p:sp>
      <p:sp>
        <p:nvSpPr>
          <p:cNvPr id="6" name="Text 2"/>
          <p:cNvSpPr txBox="1"/>
          <p:nvPr/>
        </p:nvSpPr>
        <p:spPr>
          <a:xfrm>
            <a:off x="731520" y="5029200"/>
            <a:ext cx="2194560" cy="960120"/>
          </a:xfrm>
          <a:prstGeom prst="rect">
            <a:avLst/>
          </a:prstGeom>
          <a:noFill/>
          <a:ln/>
        </p:spPr>
        <p:txBody>
          <a:bodyPr wrap="square" lIns="0" tIns="0" rIns="0" bIns="0" rtlCol="0" anchor="ctr"/>
          <a:lstStyle/>
          <a:p>
            <a:pPr indent="0" marL="0">
              <a:buNone/>
            </a:pPr>
            <a:r>
              <a:rPr lang="en-US" sz="3400" b="1" dirty="0">
                <a:solidFill>
                  <a:schemeClr val="tx2"/>
                </a:solidFill>
              </a:rPr>
              <a:t>≈ 4×</a:t>
            </a:r>
            <a:endParaRPr lang="en-US" sz="3400" dirty="0"/>
          </a:p>
        </p:txBody>
      </p:sp>
      <p:sp>
        <p:nvSpPr>
          <p:cNvPr id="7" name="Text 3"/>
          <p:cNvSpPr txBox="1"/>
          <p:nvPr/>
        </p:nvSpPr>
        <p:spPr>
          <a:xfrm>
            <a:off x="2926080" y="5029200"/>
            <a:ext cx="2926080" cy="960120"/>
          </a:xfrm>
          <a:prstGeom prst="rect">
            <a:avLst/>
          </a:prstGeom>
          <a:noFill/>
          <a:ln/>
        </p:spPr>
        <p:txBody>
          <a:bodyPr wrap="square" lIns="0" tIns="0" rIns="0" bIns="0" rtlCol="0" anchor="ctr"/>
          <a:lstStyle/>
          <a:p>
            <a:pPr indent="0" marL="0">
              <a:buNone/>
            </a:pPr>
            <a:r>
              <a:rPr lang="en-US" sz="1500" dirty="0">
                <a:solidFill>
                  <a:schemeClr val="tx1"/>
                </a:solidFill>
              </a:rPr>
              <a:t>1.92 → 7.90 m³ reachable volume when the rail is a DOF</a:t>
            </a:r>
            <a:endParaRPr lang="en-US" sz="1500" dirty="0"/>
          </a:p>
        </p:txBody>
      </p:sp>
      <p:sp>
        <p:nvSpPr>
          <p:cNvPr id="8" name="Shape 4"/>
          <p:cNvSpPr/>
          <p:nvPr/>
        </p:nvSpPr>
        <p:spPr>
          <a:xfrm>
            <a:off x="6245352" y="4983480"/>
            <a:ext cx="5394960" cy="1051560"/>
          </a:xfrm>
          <a:prstGeom prst="rect">
            <a:avLst/>
          </a:prstGeom>
          <a:solidFill>
            <a:schemeClr val="bg1"/>
          </a:solidFill>
          <a:ln w="25400">
            <a:solidFill>
              <a:schemeClr val="tx1"/>
            </a:solidFill>
            <a:prstDash val="solid"/>
          </a:ln>
        </p:spPr>
      </p:sp>
      <p:sp>
        <p:nvSpPr>
          <p:cNvPr id="9" name="Text 5"/>
          <p:cNvSpPr txBox="1"/>
          <p:nvPr/>
        </p:nvSpPr>
        <p:spPr>
          <a:xfrm>
            <a:off x="6428232" y="5029200"/>
            <a:ext cx="2194560" cy="960120"/>
          </a:xfrm>
          <a:prstGeom prst="rect">
            <a:avLst/>
          </a:prstGeom>
          <a:noFill/>
          <a:ln/>
        </p:spPr>
        <p:txBody>
          <a:bodyPr wrap="square" lIns="0" tIns="0" rIns="0" bIns="0" rtlCol="0" anchor="ctr"/>
          <a:lstStyle/>
          <a:p>
            <a:pPr indent="0" marL="0">
              <a:buNone/>
            </a:pPr>
            <a:r>
              <a:rPr lang="en-US" sz="3400" b="1" dirty="0">
                <a:solidFill>
                  <a:schemeClr val="tx2"/>
                </a:solidFill>
              </a:rPr>
              <a:t>0.8 cm</a:t>
            </a:r>
            <a:endParaRPr lang="en-US" sz="3400" dirty="0"/>
          </a:p>
        </p:txBody>
      </p:sp>
      <p:sp>
        <p:nvSpPr>
          <p:cNvPr id="10" name="Text 6"/>
          <p:cNvSpPr txBox="1"/>
          <p:nvPr/>
        </p:nvSpPr>
        <p:spPr>
          <a:xfrm>
            <a:off x="8622792" y="5029200"/>
            <a:ext cx="2926080" cy="960120"/>
          </a:xfrm>
          <a:prstGeom prst="rect">
            <a:avLst/>
          </a:prstGeom>
          <a:noFill/>
          <a:ln/>
        </p:spPr>
        <p:txBody>
          <a:bodyPr wrap="square" lIns="0" tIns="0" rIns="0" bIns="0" rtlCol="0" anchor="ctr"/>
          <a:lstStyle/>
          <a:p>
            <a:pPr indent="0" marL="0">
              <a:buNone/>
            </a:pPr>
            <a:r>
              <a:rPr lang="en-US" sz="1500" dirty="0">
                <a:solidFill>
                  <a:schemeClr val="tx1"/>
                </a:solidFill>
              </a:rPr>
              <a:t>edge error, down from 22.1 cm (about 28× smaller)</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chemeClr val="tx2"/>
                </a:solidFill>
              </a:rPr>
              <a:t>Subsystem 3: Energy-Aware Selection Cost J</a:t>
            </a:r>
            <a:endParaRPr lang="en-US" sz="3200" dirty="0"/>
          </a:p>
        </p:txBody>
      </p:sp>
      <p:pic>
        <p:nvPicPr>
          <p:cNvPr id="3" name="Equation J" descr="/tmp/claude-1003/-srv-data-users-raditya-arm-WS-ceiling-arm/be5ae870-e296-4224-b9f7-0876347de272/scratchpad/deck/img/eq_J.png">    </p:cNvPr>
          <p:cNvPicPr>
            <a:picLocks noChangeAspect="1"/>
          </p:cNvPicPr>
          <p:nvPr/>
        </p:nvPicPr>
        <p:blipFill>
          <a:blip r:embed="rId1"/>
          <a:stretch>
            <a:fillRect/>
          </a:stretch>
        </p:blipFill>
        <p:spPr>
          <a:xfrm>
            <a:off x="1527048" y="1188720"/>
            <a:ext cx="9144000" cy="694944"/>
          </a:xfrm>
          <a:prstGeom prst="rect">
            <a:avLst/>
          </a:prstGeom>
        </p:spPr>
      </p:pic>
      <p:sp>
        <p:nvSpPr>
          <p:cNvPr id="4" name="Text 1"/>
          <p:cNvSpPr txBox="1"/>
          <p:nvPr/>
        </p:nvSpPr>
        <p:spPr>
          <a:xfrm>
            <a:off x="548640" y="2148840"/>
            <a:ext cx="5120640" cy="210312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Δlin, Δrot</a:t>
            </a:r>
            <a:pPr indent="0" marL="0">
              <a:spcAft>
                <a:spcPts val="400"/>
              </a:spcAft>
              <a:buNone/>
            </a:pPr>
            <a:r>
              <a:rPr lang="en-US" sz="1500" dirty="0">
                <a:solidFill>
                  <a:schemeClr val="tx1"/>
                </a:solidFill>
              </a:rPr>
              <a:t>: rail linear / rotation travel</a:t>
            </a:r>
            <a:endParaRPr lang="en-US" sz="1500" dirty="0"/>
          </a:p>
          <a:p>
            <a:pPr indent="0" marL="0">
              <a:spcAft>
                <a:spcPts val="400"/>
              </a:spcAft>
              <a:buNone/>
            </a:pPr>
            <a:r>
              <a:rPr lang="en-US" sz="1500" b="1" dirty="0">
                <a:solidFill>
                  <a:schemeClr val="tx1"/>
                </a:solidFill>
              </a:rPr>
              <a:t>Δarm</a:t>
            </a:r>
            <a:pPr indent="0" marL="0">
              <a:spcAft>
                <a:spcPts val="400"/>
              </a:spcAft>
              <a:buNone/>
            </a:pPr>
            <a:r>
              <a:rPr lang="en-US" sz="1500" dirty="0">
                <a:solidFill>
                  <a:schemeClr val="tx1"/>
                </a:solidFill>
              </a:rPr>
              <a:t>: summed arm-joint travel</a:t>
            </a:r>
            <a:endParaRPr lang="en-US" sz="1500" dirty="0"/>
          </a:p>
          <a:p>
            <a:pPr indent="0" marL="0">
              <a:spcAft>
                <a:spcPts val="400"/>
              </a:spcAft>
              <a:buNone/>
            </a:pPr>
            <a:r>
              <a:rPr lang="en-US" sz="1500" b="1" dirty="0">
                <a:solidFill>
                  <a:schemeClr val="tx1"/>
                </a:solidFill>
              </a:rPr>
              <a:t>e</a:t>
            </a:r>
            <a:pPr indent="0" marL="0">
              <a:spcAft>
                <a:spcPts val="400"/>
              </a:spcAft>
              <a:buNone/>
            </a:pPr>
            <a:r>
              <a:rPr lang="en-US" sz="1500" dirty="0">
                <a:solidFill>
                  <a:schemeClr val="tx1"/>
                </a:solidFill>
              </a:rPr>
              <a:t>: tool-to-object distance</a:t>
            </a:r>
            <a:endParaRPr lang="en-US" sz="1500" dirty="0"/>
          </a:p>
          <a:p>
            <a:pPr indent="0" marL="0">
              <a:spcAft>
                <a:spcPts val="400"/>
              </a:spcAft>
              <a:buNone/>
            </a:pPr>
            <a:r>
              <a:rPr lang="en-US" sz="1500" b="1" dirty="0">
                <a:solidFill>
                  <a:schemeClr val="tx1"/>
                </a:solidFill>
              </a:rPr>
              <a:t>m</a:t>
            </a:r>
            <a:pPr indent="0" marL="0">
              <a:spcAft>
                <a:spcPts val="400"/>
              </a:spcAft>
              <a:buNone/>
            </a:pPr>
            <a:r>
              <a:rPr lang="en-US" sz="1500" dirty="0">
                <a:solidFill>
                  <a:schemeClr val="tx1"/>
                </a:solidFill>
              </a:rPr>
              <a:t>: manipulability (subtracted, so dexterity is cheaper)</a:t>
            </a:r>
            <a:endParaRPr lang="en-US" sz="1500" dirty="0"/>
          </a:p>
          <a:p>
            <a:pPr indent="0" marL="0">
              <a:spcAft>
                <a:spcPts val="400"/>
              </a:spcAft>
              <a:buNone/>
            </a:pPr>
            <a:r>
              <a:rPr lang="en-US" sz="1500" b="1" dirty="0">
                <a:solidFill>
                  <a:schemeClr val="tx1"/>
                </a:solidFill>
              </a:rPr>
              <a:t>ρ</a:t>
            </a:r>
            <a:pPr indent="0" marL="0">
              <a:spcAft>
                <a:spcPts val="400"/>
              </a:spcAft>
              <a:buNone/>
            </a:pPr>
            <a:r>
              <a:rPr lang="en-US" sz="1500" dirty="0">
                <a:solidFill>
                  <a:schemeClr val="tx1"/>
                </a:solidFill>
              </a:rPr>
              <a:t>: median of each term, makes terms unitless</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153912" y="2103120"/>
          <a:ext cx="5486400" cy="914400"/>
        </p:xfrm>
        <a:graphic>
          <a:graphicData uri="http://schemas.openxmlformats.org/drawingml/2006/table">
            <a:tbl>
              <a:tblPr/>
              <a:tblGrid>
                <a:gridCol w="2926080"/>
                <a:gridCol w="1280160"/>
                <a:gridCol w="1280160"/>
              </a:tblGrid>
              <a:tr h="36576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Term</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F3A5F"/>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Weight w</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F3A5F"/>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Ref. ρ</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F3A5F"/>
                    </a:solidFill>
                  </a:tcPr>
                </a:tc>
              </a:tr>
              <a:tr h="365760">
                <a:tc>
                  <a:txBody>
                    <a:bodyPr/>
                    <a:lstStyle/>
                    <a:p>
                      <a:pPr indent="0" marL="0">
                        <a:buNone/>
                      </a:pPr>
                      <a:r>
                        <a:rPr lang="en-US" sz="1400" b="1" u="sng" dirty="0">
                          <a:solidFill>
                            <a:srgbClr val="1A1A1A"/>
                          </a:solidFill>
                          <a:latin typeface="Calibri" pitchFamily="34" charset="0"/>
                          <a:ea typeface="Calibri" pitchFamily="34" charset="-122"/>
                          <a:cs typeface="Calibri" pitchFamily="34" charset="-120"/>
                        </a:rPr>
                        <a:t>Rail linear travel</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r" indent="0" marL="0">
                        <a:buNone/>
                      </a:pPr>
                      <a:r>
                        <a:rPr lang="en-US" sz="1400" b="1" u="sng" dirty="0">
                          <a:solidFill>
                            <a:srgbClr val="1A1A1A"/>
                          </a:solidFill>
                          <a:latin typeface="Calibri" pitchFamily="34" charset="0"/>
                          <a:ea typeface="Calibri" pitchFamily="34" charset="-122"/>
                          <a:cs typeface="Calibri" pitchFamily="34" charset="-120"/>
                        </a:rPr>
                        <a:t>27.16</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r" indent="0" marL="0">
                        <a:buNone/>
                      </a:pPr>
                      <a:r>
                        <a:rPr lang="en-US" sz="1400" b="1" u="sng" dirty="0">
                          <a:solidFill>
                            <a:srgbClr val="1A1A1A"/>
                          </a:solidFill>
                          <a:latin typeface="Calibri" pitchFamily="34" charset="0"/>
                          <a:ea typeface="Calibri" pitchFamily="34" charset="-122"/>
                          <a:cs typeface="Calibri" pitchFamily="34" charset="-120"/>
                        </a:rPr>
                        <a:t>1.18 m</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r>
              <a:tr h="365760">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Tool-to-object distance</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r" indent="0" marL="0">
                        <a:buNone/>
                      </a:pPr>
                      <a:r>
                        <a:rPr lang="en-US" sz="1400" dirty="0">
                          <a:solidFill>
                            <a:srgbClr val="1A1A1A"/>
                          </a:solidFill>
                          <a:latin typeface="Calibri" pitchFamily="34" charset="0"/>
                          <a:ea typeface="Calibri" pitchFamily="34" charset="-122"/>
                          <a:cs typeface="Calibri" pitchFamily="34" charset="-120"/>
                        </a:rPr>
                        <a:t>12.78</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r" indent="0" marL="0">
                        <a:buNone/>
                      </a:pPr>
                      <a:r>
                        <a:rPr lang="en-US" sz="1400" dirty="0">
                          <a:solidFill>
                            <a:srgbClr val="1A1A1A"/>
                          </a:solidFill>
                          <a:latin typeface="Calibri" pitchFamily="34" charset="0"/>
                          <a:ea typeface="Calibri" pitchFamily="34" charset="-122"/>
                          <a:cs typeface="Calibri" pitchFamily="34" charset="-120"/>
                        </a:rPr>
                        <a:t>1.45 m</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r>
              <a:tr h="365760">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Rail rotation travel</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r" indent="0" marL="0">
                        <a:buNone/>
                      </a:pPr>
                      <a:r>
                        <a:rPr lang="en-US" sz="1400" dirty="0">
                          <a:solidFill>
                            <a:srgbClr val="1A1A1A"/>
                          </a:solidFill>
                          <a:latin typeface="Calibri" pitchFamily="34" charset="0"/>
                          <a:ea typeface="Calibri" pitchFamily="34" charset="-122"/>
                          <a:cs typeface="Calibri" pitchFamily="34" charset="-120"/>
                        </a:rPr>
                        <a:t>3.08</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r" indent="0" marL="0">
                        <a:buNone/>
                      </a:pPr>
                      <a:r>
                        <a:rPr lang="en-US" sz="1400" dirty="0">
                          <a:solidFill>
                            <a:srgbClr val="1A1A1A"/>
                          </a:solidFill>
                          <a:latin typeface="Calibri" pitchFamily="34" charset="0"/>
                          <a:ea typeface="Calibri" pitchFamily="34" charset="-122"/>
                          <a:cs typeface="Calibri" pitchFamily="34" charset="-120"/>
                        </a:rPr>
                        <a:t>1.24 rad</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r>
              <a:tr h="365760">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Manipulability (−)</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r" indent="0" marL="0">
                        <a:buNone/>
                      </a:pPr>
                      <a:r>
                        <a:rPr lang="en-US" sz="1400" dirty="0">
                          <a:solidFill>
                            <a:srgbClr val="1A1A1A"/>
                          </a:solidFill>
                          <a:latin typeface="Calibri" pitchFamily="34" charset="0"/>
                          <a:ea typeface="Calibri" pitchFamily="34" charset="-122"/>
                          <a:cs typeface="Calibri" pitchFamily="34" charset="-120"/>
                        </a:rPr>
                        <a:t>2.95</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r" indent="0" marL="0">
                        <a:buNone/>
                      </a:pPr>
                      <a:r>
                        <a:rPr lang="en-US" sz="1400" dirty="0">
                          <a:solidFill>
                            <a:srgbClr val="1A1A1A"/>
                          </a:solidFill>
                          <a:latin typeface="Calibri" pitchFamily="34" charset="0"/>
                          <a:ea typeface="Calibri" pitchFamily="34" charset="-122"/>
                          <a:cs typeface="Calibri" pitchFamily="34" charset="-120"/>
                        </a:rPr>
                        <a:t>0.105</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r>
              <a:tr h="365760">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Arm joint travel</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r" indent="0" marL="0">
                        <a:buNone/>
                      </a:pPr>
                      <a:r>
                        <a:rPr lang="en-US" sz="1400" dirty="0">
                          <a:solidFill>
                            <a:srgbClr val="1A1A1A"/>
                          </a:solidFill>
                          <a:latin typeface="Calibri" pitchFamily="34" charset="0"/>
                          <a:ea typeface="Calibri" pitchFamily="34" charset="-122"/>
                          <a:cs typeface="Calibri" pitchFamily="34" charset="-120"/>
                        </a:rPr>
                        <a:t>0.09</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r" indent="0" marL="0">
                        <a:buNone/>
                      </a:pPr>
                      <a:r>
                        <a:rPr lang="en-US" sz="1400" dirty="0">
                          <a:solidFill>
                            <a:srgbClr val="1A1A1A"/>
                          </a:solidFill>
                          <a:latin typeface="Calibri" pitchFamily="34" charset="0"/>
                          <a:ea typeface="Calibri" pitchFamily="34" charset="-122"/>
                          <a:cs typeface="Calibri" pitchFamily="34" charset="-120"/>
                        </a:rPr>
                        <a:t>7.18 rad</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r>
            </a:tbl>
          </a:graphicData>
        </a:graphic>
      </p:graphicFrame>
      <p:sp>
        <p:nvSpPr>
          <p:cNvPr id="6" name="Shape 2"/>
          <p:cNvSpPr/>
          <p:nvPr/>
        </p:nvSpPr>
        <p:spPr>
          <a:xfrm>
            <a:off x="548640" y="4526280"/>
            <a:ext cx="11094415" cy="1554480"/>
          </a:xfrm>
          <a:prstGeom prst="rect">
            <a:avLst/>
          </a:prstGeom>
          <a:solidFill>
            <a:schemeClr val="bg1"/>
          </a:solidFill>
          <a:ln w="25400">
            <a:solidFill>
              <a:schemeClr val="tx1"/>
            </a:solidFill>
            <a:prstDash val="solid"/>
          </a:ln>
        </p:spPr>
      </p:sp>
      <p:sp>
        <p:nvSpPr>
          <p:cNvPr id="7" name="Text 3"/>
          <p:cNvSpPr txBox="1"/>
          <p:nvPr/>
        </p:nvSpPr>
        <p:spPr>
          <a:xfrm>
            <a:off x="731520" y="4617720"/>
            <a:ext cx="10728655" cy="1371600"/>
          </a:xfrm>
          <a:prstGeom prst="rect">
            <a:avLst/>
          </a:prstGeom>
          <a:noFill/>
          <a:ln/>
        </p:spPr>
        <p:txBody>
          <a:bodyPr wrap="square" lIns="0" tIns="0" rIns="0" bIns="0" rtlCol="0" anchor="ctr"/>
          <a:lstStyle/>
          <a:p>
            <a:pPr indent="0" marL="0">
              <a:spcAft>
                <a:spcPts val="400"/>
              </a:spcAft>
              <a:buNone/>
            </a:pPr>
            <a:r>
              <a:rPr lang="en-US" sz="1600" b="1" dirty="0">
                <a:solidFill>
                  <a:schemeClr val="tx1"/>
                </a:solidFill>
              </a:rPr>
              <a:t>Weights are learned, not hand-set: </a:t>
            </a:r>
            <a:pPr indent="0" marL="0">
              <a:spcAft>
                <a:spcPts val="400"/>
              </a:spcAft>
              <a:buNone/>
            </a:pPr>
            <a:r>
              <a:rPr lang="en-US" sz="1600" dirty="0">
                <a:solidFill>
                  <a:schemeClr val="tx1"/>
                </a:solidFill>
              </a:rPr>
              <a:t>OLS regression of measured mechanical energy on the 5 terms (168 picks).</a:t>
            </a:r>
            <a:endParaRPr lang="en-US" sz="1600" dirty="0"/>
          </a:p>
          <a:p>
            <a:pPr indent="0" marL="0">
              <a:spcAft>
                <a:spcPts val="400"/>
              </a:spcAft>
              <a:buNone/>
            </a:pPr>
            <a:r>
              <a:rPr lang="en-US" sz="1600" dirty="0">
                <a:solidFill>
                  <a:schemeClr val="tx1"/>
                </a:solidFill>
              </a:rPr>
              <a:t>Rail friction model (assumed, sliding guide μ = 0.15): 27.6 N linear, 2.03 N·m rotation.</a:t>
            </a:r>
            <a:endParaRPr lang="en-US" sz="1600" dirty="0"/>
          </a:p>
          <a:p>
            <a:pPr indent="0" marL="0">
              <a:spcAft>
                <a:spcPts val="400"/>
              </a:spcAft>
              <a:buNone/>
            </a:pPr>
            <a:r>
              <a:rPr lang="en-US" sz="1600" dirty="0">
                <a:solidFill>
                  <a:schemeClr val="tx1"/>
                </a:solidFill>
              </a:rPr>
              <a:t>Fit quality  R² </a:t>
            </a:r>
            <a:pPr indent="0" marL="0">
              <a:spcAft>
                <a:spcPts val="400"/>
              </a:spcAft>
              <a:buNone/>
            </a:pPr>
            <a:r>
              <a:rPr lang="en-US" sz="1600" b="1" u="sng" dirty="0">
                <a:solidFill>
                  <a:schemeClr val="tx1"/>
                </a:solidFill>
              </a:rPr>
              <a:t>0.055 → 0.857</a:t>
            </a:r>
            <a:pPr indent="0" marL="0">
              <a:spcAft>
                <a:spcPts val="400"/>
              </a:spcAft>
              <a:buNone/>
            </a:pPr>
            <a:r>
              <a:rPr lang="en-US" sz="1600" dirty="0">
                <a:solidFill>
                  <a:schemeClr val="tx1"/>
                </a:solidFill>
              </a:rPr>
              <a:t>,  Spearman </a:t>
            </a:r>
            <a:pPr indent="0" marL="0">
              <a:spcAft>
                <a:spcPts val="400"/>
              </a:spcAft>
              <a:buNone/>
            </a:pPr>
            <a:r>
              <a:rPr lang="en-US" sz="1600" b="1" u="sng" dirty="0">
                <a:solidFill>
                  <a:schemeClr val="tx1"/>
                </a:solidFill>
              </a:rPr>
              <a:t>0.31 → 0.909</a:t>
            </a:r>
            <a:pPr indent="0" marL="0">
              <a:spcAft>
                <a:spcPts val="400"/>
              </a:spcAft>
              <a:buNone/>
            </a:pPr>
            <a:r>
              <a:rPr lang="en-US" sz="1600" dirty="0">
                <a:solidFill>
                  <a:schemeClr val="tx1"/>
                </a:solidFill>
              </a:rPr>
              <a:t>  (frictionless → friction model).</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chemeClr val="tx2"/>
                </a:solidFill>
              </a:rPr>
              <a:t>Selection Procedure and Experiment Setup</a:t>
            </a:r>
            <a:endParaRPr lang="en-US" sz="3200" dirty="0"/>
          </a:p>
        </p:txBody>
      </p:sp>
      <p:sp>
        <p:nvSpPr>
          <p:cNvPr id="3" name="Text 1"/>
          <p:cNvSpPr txBox="1"/>
          <p:nvPr/>
        </p:nvSpPr>
        <p:spPr>
          <a:xfrm>
            <a:off x="548640" y="1188720"/>
            <a:ext cx="5303520" cy="411480"/>
          </a:xfrm>
          <a:prstGeom prst="rect">
            <a:avLst/>
          </a:prstGeom>
          <a:noFill/>
          <a:ln/>
        </p:spPr>
        <p:txBody>
          <a:bodyPr wrap="square" lIns="0" tIns="0" rIns="0" bIns="0" rtlCol="0" anchor="t"/>
          <a:lstStyle/>
          <a:p>
            <a:pPr indent="0" marL="0">
              <a:buNone/>
            </a:pPr>
            <a:r>
              <a:rPr lang="en-US" sz="2000" b="1" dirty="0">
                <a:solidFill>
                  <a:schemeClr val="tx2"/>
                </a:solidFill>
              </a:rPr>
              <a:t>Selection (per target)</a:t>
            </a:r>
            <a:endParaRPr lang="en-US" sz="2000" dirty="0"/>
          </a:p>
        </p:txBody>
      </p:sp>
      <p:sp>
        <p:nvSpPr>
          <p:cNvPr id="4" name="Shape 2"/>
          <p:cNvSpPr/>
          <p:nvPr/>
        </p:nvSpPr>
        <p:spPr>
          <a:xfrm>
            <a:off x="548640" y="1874520"/>
            <a:ext cx="384048" cy="384048"/>
          </a:xfrm>
          <a:prstGeom prst="ellipse">
            <a:avLst/>
          </a:prstGeom>
          <a:solidFill>
            <a:schemeClr val="accent1"/>
          </a:solidFill>
          <a:ln w="12700">
            <a:solidFill>
              <a:schemeClr val="accent1"/>
            </a:solidFill>
            <a:prstDash val="solid"/>
          </a:ln>
        </p:spPr>
      </p:sp>
      <p:sp>
        <p:nvSpPr>
          <p:cNvPr id="5" name="Text 3"/>
          <p:cNvSpPr txBox="1"/>
          <p:nvPr/>
        </p:nvSpPr>
        <p:spPr>
          <a:xfrm>
            <a:off x="548640" y="187452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procedure step"/>
          <p:cNvSpPr/>
          <p:nvPr/>
        </p:nvSpPr>
        <p:spPr>
          <a:xfrm>
            <a:off x="1097280" y="1783080"/>
            <a:ext cx="4754880" cy="777240"/>
          </a:xfrm>
          <a:prstGeom prst="rect">
            <a:avLst/>
          </a:prstGeom>
          <a:solidFill>
            <a:schemeClr val="bg2"/>
          </a:solidFill>
          <a:ln w="12700">
            <a:solidFill>
              <a:schemeClr val="bg2"/>
            </a:solidFill>
            <a:prstDash val="solid"/>
          </a:ln>
        </p:spPr>
      </p:sp>
      <p:sp>
        <p:nvSpPr>
          <p:cNvPr id="7" name="Text 5"/>
          <p:cNvSpPr txBox="1"/>
          <p:nvPr/>
        </p:nvSpPr>
        <p:spPr>
          <a:xfrm>
            <a:off x="1234440" y="1783080"/>
            <a:ext cx="4526280" cy="777240"/>
          </a:xfrm>
          <a:prstGeom prst="rect">
            <a:avLst/>
          </a:prstGeom>
          <a:noFill/>
          <a:ln/>
        </p:spPr>
        <p:txBody>
          <a:bodyPr wrap="square" lIns="0" tIns="0" rIns="0" bIns="0" rtlCol="0" anchor="ctr"/>
          <a:lstStyle/>
          <a:p>
            <a:pPr indent="0" marL="0">
              <a:buNone/>
            </a:pPr>
            <a:r>
              <a:rPr lang="en-US" sz="1500" dirty="0">
                <a:solidFill>
                  <a:schemeClr val="tx1"/>
                </a:solidFill>
              </a:rPr>
              <a:t>Pool map nodes near the target from all 4 arms</a:t>
            </a:r>
            <a:endParaRPr lang="en-US" sz="1500" dirty="0"/>
          </a:p>
        </p:txBody>
      </p:sp>
      <p:sp>
        <p:nvSpPr>
          <p:cNvPr id="8" name="Shape 6"/>
          <p:cNvSpPr/>
          <p:nvPr/>
        </p:nvSpPr>
        <p:spPr>
          <a:xfrm>
            <a:off x="548640" y="2880360"/>
            <a:ext cx="384048" cy="384048"/>
          </a:xfrm>
          <a:prstGeom prst="ellipse">
            <a:avLst/>
          </a:prstGeom>
          <a:solidFill>
            <a:schemeClr val="accent1"/>
          </a:solidFill>
          <a:ln w="12700">
            <a:solidFill>
              <a:schemeClr val="accent1"/>
            </a:solidFill>
            <a:prstDash val="solid"/>
          </a:ln>
        </p:spPr>
      </p:sp>
      <p:sp>
        <p:nvSpPr>
          <p:cNvPr id="9" name="Text 7"/>
          <p:cNvSpPr txBox="1"/>
          <p:nvPr/>
        </p:nvSpPr>
        <p:spPr>
          <a:xfrm>
            <a:off x="548640" y="288036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procedure step"/>
          <p:cNvSpPr/>
          <p:nvPr/>
        </p:nvSpPr>
        <p:spPr>
          <a:xfrm>
            <a:off x="1097280" y="2788920"/>
            <a:ext cx="4754880" cy="777240"/>
          </a:xfrm>
          <a:prstGeom prst="rect">
            <a:avLst/>
          </a:prstGeom>
          <a:solidFill>
            <a:schemeClr val="bg2"/>
          </a:solidFill>
          <a:ln w="12700">
            <a:solidFill>
              <a:schemeClr val="bg2"/>
            </a:solidFill>
            <a:prstDash val="solid"/>
          </a:ln>
        </p:spPr>
      </p:sp>
      <p:sp>
        <p:nvSpPr>
          <p:cNvPr id="11" name="Text 9"/>
          <p:cNvSpPr txBox="1"/>
          <p:nvPr/>
        </p:nvSpPr>
        <p:spPr>
          <a:xfrm>
            <a:off x="1234440" y="2788920"/>
            <a:ext cx="4526280" cy="777240"/>
          </a:xfrm>
          <a:prstGeom prst="rect">
            <a:avLst/>
          </a:prstGeom>
          <a:noFill/>
          <a:ln/>
        </p:spPr>
        <p:txBody>
          <a:bodyPr wrap="square" lIns="0" tIns="0" rIns="0" bIns="0" rtlCol="0" anchor="ctr"/>
          <a:lstStyle/>
          <a:p>
            <a:pPr indent="0" marL="0">
              <a:buNone/>
            </a:pPr>
            <a:r>
              <a:rPr lang="en-US" sz="1500" dirty="0">
                <a:solidFill>
                  <a:schemeClr val="tx1"/>
                </a:solidFill>
              </a:rPr>
              <a:t>Score every candidate with J, sort ascending</a:t>
            </a:r>
            <a:endParaRPr lang="en-US" sz="1500" dirty="0"/>
          </a:p>
        </p:txBody>
      </p:sp>
      <p:sp>
        <p:nvSpPr>
          <p:cNvPr id="12" name="Shape 10"/>
          <p:cNvSpPr/>
          <p:nvPr/>
        </p:nvSpPr>
        <p:spPr>
          <a:xfrm>
            <a:off x="548640" y="3886200"/>
            <a:ext cx="384048" cy="384048"/>
          </a:xfrm>
          <a:prstGeom prst="ellipse">
            <a:avLst/>
          </a:prstGeom>
          <a:solidFill>
            <a:schemeClr val="accent1"/>
          </a:solidFill>
          <a:ln w="12700">
            <a:solidFill>
              <a:schemeClr val="accent1"/>
            </a:solidFill>
            <a:prstDash val="solid"/>
          </a:ln>
        </p:spPr>
      </p:sp>
      <p:sp>
        <p:nvSpPr>
          <p:cNvPr id="13" name="Text 11"/>
          <p:cNvSpPr txBox="1"/>
          <p:nvPr/>
        </p:nvSpPr>
        <p:spPr>
          <a:xfrm>
            <a:off x="548640" y="38862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procedure step"/>
          <p:cNvSpPr/>
          <p:nvPr/>
        </p:nvSpPr>
        <p:spPr>
          <a:xfrm>
            <a:off x="1097280" y="3794760"/>
            <a:ext cx="4754880" cy="777240"/>
          </a:xfrm>
          <a:prstGeom prst="rect">
            <a:avLst/>
          </a:prstGeom>
          <a:solidFill>
            <a:schemeClr val="bg2"/>
          </a:solidFill>
          <a:ln w="12700">
            <a:solidFill>
              <a:schemeClr val="bg2"/>
            </a:solidFill>
            <a:prstDash val="solid"/>
          </a:ln>
        </p:spPr>
      </p:sp>
      <p:sp>
        <p:nvSpPr>
          <p:cNvPr id="15" name="Text 13"/>
          <p:cNvSpPr txBox="1"/>
          <p:nvPr/>
        </p:nvSpPr>
        <p:spPr>
          <a:xfrm>
            <a:off x="1234440" y="3794760"/>
            <a:ext cx="4526280" cy="777240"/>
          </a:xfrm>
          <a:prstGeom prst="rect">
            <a:avLst/>
          </a:prstGeom>
          <a:noFill/>
          <a:ln/>
        </p:spPr>
        <p:txBody>
          <a:bodyPr wrap="square" lIns="0" tIns="0" rIns="0" bIns="0" rtlCol="0" anchor="ctr"/>
          <a:lstStyle/>
          <a:p>
            <a:pPr indent="0" marL="0">
              <a:buNone/>
            </a:pPr>
            <a:r>
              <a:rPr lang="en-US" sz="1500" dirty="0">
                <a:solidFill>
                  <a:schemeClr val="tx1"/>
                </a:solidFill>
              </a:rPr>
              <a:t>Try in order, interleaved across arms: IK to pre-grasp + MoveIt plan-only</a:t>
            </a:r>
            <a:endParaRPr lang="en-US" sz="1500" dirty="0"/>
          </a:p>
        </p:txBody>
      </p:sp>
      <p:sp>
        <p:nvSpPr>
          <p:cNvPr id="16" name="Shape 14"/>
          <p:cNvSpPr/>
          <p:nvPr/>
        </p:nvSpPr>
        <p:spPr>
          <a:xfrm>
            <a:off x="548640" y="4892040"/>
            <a:ext cx="384048" cy="384048"/>
          </a:xfrm>
          <a:prstGeom prst="ellipse">
            <a:avLst/>
          </a:prstGeom>
          <a:solidFill>
            <a:schemeClr val="accent1"/>
          </a:solidFill>
          <a:ln w="12700">
            <a:solidFill>
              <a:schemeClr val="accent1"/>
            </a:solidFill>
            <a:prstDash val="solid"/>
          </a:ln>
        </p:spPr>
      </p:sp>
      <p:sp>
        <p:nvSpPr>
          <p:cNvPr id="17" name="Text 15"/>
          <p:cNvSpPr txBox="1"/>
          <p:nvPr/>
        </p:nvSpPr>
        <p:spPr>
          <a:xfrm>
            <a:off x="548640" y="489204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8" name="procedure step"/>
          <p:cNvSpPr/>
          <p:nvPr/>
        </p:nvSpPr>
        <p:spPr>
          <a:xfrm>
            <a:off x="1097280" y="4800600"/>
            <a:ext cx="4754880" cy="777240"/>
          </a:xfrm>
          <a:prstGeom prst="rect">
            <a:avLst/>
          </a:prstGeom>
          <a:solidFill>
            <a:schemeClr val="bg2"/>
          </a:solidFill>
          <a:ln w="12700">
            <a:solidFill>
              <a:schemeClr val="bg2"/>
            </a:solidFill>
            <a:prstDash val="solid"/>
          </a:ln>
        </p:spPr>
      </p:sp>
      <p:sp>
        <p:nvSpPr>
          <p:cNvPr id="19" name="Text 17"/>
          <p:cNvSpPr txBox="1"/>
          <p:nvPr/>
        </p:nvSpPr>
        <p:spPr>
          <a:xfrm>
            <a:off x="1234440" y="4800600"/>
            <a:ext cx="4526280" cy="777240"/>
          </a:xfrm>
          <a:prstGeom prst="rect">
            <a:avLst/>
          </a:prstGeom>
          <a:noFill/>
          <a:ln/>
        </p:spPr>
        <p:txBody>
          <a:bodyPr wrap="square" lIns="0" tIns="0" rIns="0" bIns="0" rtlCol="0" anchor="ctr"/>
          <a:lstStyle/>
          <a:p>
            <a:pPr indent="0" marL="0">
              <a:buNone/>
            </a:pPr>
            <a:r>
              <a:rPr lang="en-US" sz="1500" dirty="0">
                <a:solidFill>
                  <a:schemeClr val="tx1"/>
                </a:solidFill>
              </a:rPr>
              <a:t>First valid plan = selected arm + rail placement, then execute</a:t>
            </a:r>
            <a:endParaRPr lang="en-US" sz="1500" dirty="0"/>
          </a:p>
        </p:txBody>
      </p:sp>
      <p:sp>
        <p:nvSpPr>
          <p:cNvPr id="20" name="Text 18"/>
          <p:cNvSpPr txBox="1"/>
          <p:nvPr/>
        </p:nvSpPr>
        <p:spPr>
          <a:xfrm>
            <a:off x="6492240" y="1188720"/>
            <a:ext cx="5120640" cy="411480"/>
          </a:xfrm>
          <a:prstGeom prst="rect">
            <a:avLst/>
          </a:prstGeom>
          <a:noFill/>
          <a:ln/>
        </p:spPr>
        <p:txBody>
          <a:bodyPr wrap="square" lIns="0" tIns="0" rIns="0" bIns="0" rtlCol="0" anchor="t"/>
          <a:lstStyle/>
          <a:p>
            <a:pPr indent="0" marL="0">
              <a:buNone/>
            </a:pPr>
            <a:r>
              <a:rPr lang="en-US" sz="2000" b="1" dirty="0">
                <a:solidFill>
                  <a:schemeClr val="tx2"/>
                </a:solidFill>
              </a:rPr>
              <a:t>Experiment setup</a:t>
            </a:r>
            <a:endParaRPr lang="en-US" sz="2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92240" y="1783080"/>
          <a:ext cx="5148072" cy="914400"/>
        </p:xfrm>
        <a:graphic>
          <a:graphicData uri="http://schemas.openxmlformats.org/drawingml/2006/table">
            <a:tbl>
              <a:tblPr/>
              <a:tblGrid>
                <a:gridCol w="1280160"/>
                <a:gridCol w="3867912"/>
              </a:tblGrid>
              <a:tr h="566928">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Targets</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EEF1F5"/>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60-position grid (6×5×2) over both rails</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r>
              <a:tr h="566928">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Policies</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EEF1F5"/>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energy (ours), nearest, random, fixed (each arm)</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r>
              <a:tr h="566928">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Run</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EEF1F5"/>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planned against live MoveIt 2 (Isaac Sim)</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r>
              <a:tr h="566928">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Metrics</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EEF1F5"/>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plan success, rail and arm travel, measured mechanical energy</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r>
              <a:tr h="566928">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Energy</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EEF1F5"/>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Pinocchio inverse dynamics + rail friction</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r>
              <a:tr h="566928">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Plan time</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EEF1F5"/>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 0.08 s per pick for every policy</a:t>
                      </a:r>
                      <a:endParaRPr lang="en-US" sz="14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chemeClr val="tx2"/>
                </a:solidFill>
              </a:rPr>
              <a:t>Result: Success Rate and Measured Energy</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6949440" cy="914400"/>
        </p:xfrm>
        <a:graphic>
          <a:graphicData uri="http://schemas.openxmlformats.org/drawingml/2006/table">
            <a:tbl>
              <a:tblPr/>
              <a:tblGrid>
                <a:gridCol w="1691640"/>
                <a:gridCol w="914400"/>
                <a:gridCol w="1097280"/>
                <a:gridCol w="914400"/>
                <a:gridCol w="1097280"/>
                <a:gridCol w="1234440"/>
              </a:tblGrid>
              <a:tr h="54864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Policy</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F3A5F"/>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Success</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F3A5F"/>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Rail lin. (m)</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F3A5F"/>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Arm (rad)</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F3A5F"/>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Mean E (J)</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F3A5F"/>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Median E (J)</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F3A5F"/>
                    </a:solidFill>
                  </a:tcPr>
                </a:tc>
              </a:tr>
              <a:tr h="384048">
                <a:tc>
                  <a:txBody>
                    <a:bodyPr/>
                    <a:lstStyle/>
                    <a:p>
                      <a:pPr indent="0" marL="0">
                        <a:buNone/>
                      </a:pPr>
                      <a:r>
                        <a:rPr lang="en-US" sz="1500" b="1" dirty="0">
                          <a:solidFill>
                            <a:srgbClr val="1A1A1A"/>
                          </a:solidFill>
                          <a:latin typeface="Calibri" pitchFamily="34" charset="0"/>
                          <a:ea typeface="Calibri" pitchFamily="34" charset="-122"/>
                          <a:cs typeface="Calibri" pitchFamily="34" charset="-120"/>
                        </a:rPr>
                        <a:t>energy (ours)</a:t>
                      </a:r>
                      <a:endParaRPr lang="en-US" sz="1500" dirty="0">
                        <a:latin typeface="Calibri" charset="0"/>
                        <a:ea typeface="Calibri" charset="0"/>
                        <a:cs typeface="Calibri" charset="0"/>
                      </a:endParaRPr>
                    </a:p>
                  </a:txBody>
                  <a:tcPr marL="73152" marR="73152" marT="27432" marB="27432" anchor="ctr">
                    <a:lnL w="28575" cap="flat" cmpd="sng" algn="ctr">
                      <a:solidFill>
                        <a:srgbClr val="1A1A1A"/>
                      </a:solidFill>
                      <a:prstDash val="solid"/>
                      <a:round/>
                      <a:headEnd type="none" w="med" len="med"/>
                      <a:tailEnd type="none" w="med" len="med"/>
                    </a:lnL>
                    <a:lnR w="9525" cap="flat" cmpd="sng" algn="ctr">
                      <a:solidFill>
                        <a:srgbClr val="C9CED6"/>
                      </a:solidFill>
                      <a:prstDash val="solid"/>
                      <a:round/>
                      <a:headEnd type="none" w="med" len="med"/>
                      <a:tailEnd type="none" w="med" len="med"/>
                    </a:lnR>
                    <a:lnT w="28575" cap="flat" cmpd="sng" algn="ctr">
                      <a:solidFill>
                        <a:srgbClr val="1A1A1A"/>
                      </a:solidFill>
                      <a:prstDash val="solid"/>
                      <a:round/>
                      <a:headEnd type="none" w="med" len="med"/>
                      <a:tailEnd type="none" w="med" len="med"/>
                    </a:lnT>
                    <a:lnB w="28575" cap="flat" cmpd="sng" algn="ctr">
                      <a:solidFill>
                        <a:srgbClr val="1A1A1A"/>
                      </a:solidFill>
                      <a:prstDash val="solid"/>
                      <a:round/>
                      <a:headEnd type="none" w="med" len="med"/>
                      <a:tailEnd type="none" w="med" len="med"/>
                    </a:lnB>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93.3%</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28575" cap="flat" cmpd="sng" algn="ctr">
                      <a:solidFill>
                        <a:srgbClr val="1A1A1A"/>
                      </a:solidFill>
                      <a:prstDash val="solid"/>
                      <a:round/>
                      <a:headEnd type="none" w="med" len="med"/>
                      <a:tailEnd type="none" w="med" len="med"/>
                    </a:lnT>
                    <a:lnB w="28575" cap="flat" cmpd="sng" algn="ctr">
                      <a:solidFill>
                        <a:srgbClr val="1A1A1A"/>
                      </a:solidFill>
                      <a:prstDash val="solid"/>
                      <a:round/>
                      <a:headEnd type="none" w="med" len="med"/>
                      <a:tailEnd type="none" w="med" len="med"/>
                    </a:lnB>
                  </a:tcPr>
                </a:tc>
                <a:tc>
                  <a:txBody>
                    <a:bodyPr/>
                    <a:lstStyle/>
                    <a:p>
                      <a:pPr algn="ctr" indent="0" marL="0">
                        <a:buNone/>
                      </a:pPr>
                      <a:r>
                        <a:rPr lang="en-US" sz="1500" b="1" u="sng" dirty="0">
                          <a:solidFill>
                            <a:srgbClr val="1A1A1A"/>
                          </a:solidFill>
                          <a:latin typeface="Calibri" pitchFamily="34" charset="0"/>
                          <a:ea typeface="Calibri" pitchFamily="34" charset="-122"/>
                          <a:cs typeface="Calibri" pitchFamily="34" charset="-120"/>
                        </a:rPr>
                        <a:t>0.97</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28575" cap="flat" cmpd="sng" algn="ctr">
                      <a:solidFill>
                        <a:srgbClr val="1A1A1A"/>
                      </a:solidFill>
                      <a:prstDash val="solid"/>
                      <a:round/>
                      <a:headEnd type="none" w="med" len="med"/>
                      <a:tailEnd type="none" w="med" len="med"/>
                    </a:lnT>
                    <a:lnB w="28575" cap="flat" cmpd="sng" algn="ctr">
                      <a:solidFill>
                        <a:srgbClr val="1A1A1A"/>
                      </a:solidFill>
                      <a:prstDash val="solid"/>
                      <a:round/>
                      <a:headEnd type="none" w="med" len="med"/>
                      <a:tailEnd type="none" w="med" len="med"/>
                    </a:lnB>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8.66</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28575" cap="flat" cmpd="sng" algn="ctr">
                      <a:solidFill>
                        <a:srgbClr val="1A1A1A"/>
                      </a:solidFill>
                      <a:prstDash val="solid"/>
                      <a:round/>
                      <a:headEnd type="none" w="med" len="med"/>
                      <a:tailEnd type="none" w="med" len="med"/>
                    </a:lnT>
                    <a:lnB w="28575" cap="flat" cmpd="sng" algn="ctr">
                      <a:solidFill>
                        <a:srgbClr val="1A1A1A"/>
                      </a:solidFill>
                      <a:prstDash val="solid"/>
                      <a:round/>
                      <a:headEnd type="none" w="med" len="med"/>
                      <a:tailEnd type="none" w="med" len="med"/>
                    </a:lnB>
                  </a:tcPr>
                </a:tc>
                <a:tc>
                  <a:txBody>
                    <a:bodyPr/>
                    <a:lstStyle/>
                    <a:p>
                      <a:pPr algn="ctr" indent="0" marL="0">
                        <a:buNone/>
                      </a:pPr>
                      <a:r>
                        <a:rPr lang="en-US" sz="1500" b="1" u="sng" dirty="0">
                          <a:solidFill>
                            <a:srgbClr val="1A1A1A"/>
                          </a:solidFill>
                          <a:latin typeface="Calibri" pitchFamily="34" charset="0"/>
                          <a:ea typeface="Calibri" pitchFamily="34" charset="-122"/>
                          <a:cs typeface="Calibri" pitchFamily="34" charset="-120"/>
                        </a:rPr>
                        <a:t>45.84</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28575" cap="flat" cmpd="sng" algn="ctr">
                      <a:solidFill>
                        <a:srgbClr val="1A1A1A"/>
                      </a:solidFill>
                      <a:prstDash val="solid"/>
                      <a:round/>
                      <a:headEnd type="none" w="med" len="med"/>
                      <a:tailEnd type="none" w="med" len="med"/>
                    </a:lnT>
                    <a:lnB w="28575" cap="flat" cmpd="sng" algn="ctr">
                      <a:solidFill>
                        <a:srgbClr val="1A1A1A"/>
                      </a:solidFill>
                      <a:prstDash val="solid"/>
                      <a:round/>
                      <a:headEnd type="none" w="med" len="med"/>
                      <a:tailEnd type="none" w="med" len="med"/>
                    </a:lnB>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52.34</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28575" cap="flat" cmpd="sng" algn="ctr">
                      <a:solidFill>
                        <a:srgbClr val="1A1A1A"/>
                      </a:solidFill>
                      <a:prstDash val="solid"/>
                      <a:round/>
                      <a:headEnd type="none" w="med" len="med"/>
                      <a:tailEnd type="none" w="med" len="med"/>
                    </a:lnR>
                    <a:lnT w="28575" cap="flat" cmpd="sng" algn="ctr">
                      <a:solidFill>
                        <a:srgbClr val="1A1A1A"/>
                      </a:solidFill>
                      <a:prstDash val="solid"/>
                      <a:round/>
                      <a:headEnd type="none" w="med" len="med"/>
                      <a:tailEnd type="none" w="med" len="med"/>
                    </a:lnT>
                    <a:lnB w="28575" cap="flat" cmpd="sng" algn="ctr">
                      <a:solidFill>
                        <a:srgbClr val="1A1A1A"/>
                      </a:solidFill>
                      <a:prstDash val="solid"/>
                      <a:round/>
                      <a:headEnd type="none" w="med" len="med"/>
                      <a:tailEnd type="none" w="med" len="med"/>
                    </a:lnB>
                  </a:tcPr>
                </a:tc>
              </a:tr>
              <a:tr h="384048">
                <a:tc>
                  <a:txBody>
                    <a:bodyPr/>
                    <a:lstStyle/>
                    <a:p>
                      <a:pPr algn="l" indent="0" marL="0">
                        <a:buNone/>
                      </a:pPr>
                      <a:r>
                        <a:rPr lang="en-US" sz="1500" dirty="0">
                          <a:solidFill>
                            <a:srgbClr val="1A1A1A"/>
                          </a:solidFill>
                          <a:latin typeface="Calibri" pitchFamily="34" charset="0"/>
                          <a:ea typeface="Calibri" pitchFamily="34" charset="-122"/>
                          <a:cs typeface="Calibri" pitchFamily="34" charset="-120"/>
                        </a:rPr>
                        <a:t>nearest</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93.3%</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1.19</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7.94</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48.28</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54.79</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r>
              <a:tr h="384048">
                <a:tc>
                  <a:txBody>
                    <a:bodyPr/>
                    <a:lstStyle/>
                    <a:p>
                      <a:pPr algn="l" indent="0" marL="0">
                        <a:buNone/>
                      </a:pPr>
                      <a:r>
                        <a:rPr lang="en-US" sz="1500" dirty="0">
                          <a:solidFill>
                            <a:srgbClr val="1A1A1A"/>
                          </a:solidFill>
                          <a:latin typeface="Calibri" pitchFamily="34" charset="0"/>
                          <a:ea typeface="Calibri" pitchFamily="34" charset="-122"/>
                          <a:cs typeface="Calibri" pitchFamily="34" charset="-120"/>
                        </a:rPr>
                        <a:t>random</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93.3%</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1.17</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8.10</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47.31</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51.72</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r>
              <a:tr h="384048">
                <a:tc>
                  <a:txBody>
                    <a:bodyPr/>
                    <a:lstStyle/>
                    <a:p>
                      <a:pPr algn="l" indent="0" marL="0">
                        <a:buNone/>
                      </a:pPr>
                      <a:r>
                        <a:rPr lang="en-US" sz="1500" dirty="0">
                          <a:solidFill>
                            <a:srgbClr val="1A1A1A"/>
                          </a:solidFill>
                          <a:latin typeface="Calibri" pitchFamily="34" charset="0"/>
                          <a:ea typeface="Calibri" pitchFamily="34" charset="-122"/>
                          <a:cs typeface="Calibri" pitchFamily="34" charset="-120"/>
                        </a:rPr>
                        <a:t>fixed (best arm)*</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65.0%</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1.14</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7.47</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49.79</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55.78</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r>
              <a:tr h="384048">
                <a:tc>
                  <a:txBody>
                    <a:bodyPr/>
                    <a:lstStyle/>
                    <a:p>
                      <a:pPr algn="l" indent="0" marL="0">
                        <a:buNone/>
                      </a:pPr>
                      <a:r>
                        <a:rPr lang="en-US" sz="1500" dirty="0">
                          <a:solidFill>
                            <a:srgbClr val="1A1A1A"/>
                          </a:solidFill>
                          <a:latin typeface="Calibri" pitchFamily="34" charset="0"/>
                          <a:ea typeface="Calibri" pitchFamily="34" charset="-122"/>
                          <a:cs typeface="Calibri" pitchFamily="34" charset="-120"/>
                        </a:rPr>
                        <a:t>fixed (worst arm)*</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63.3%</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1.13</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8.05</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45.43</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43.12</a:t>
                      </a:r>
                      <a:endParaRPr lang="en-US" sz="1500" dirty="0">
                        <a:latin typeface="Calibri" charset="0"/>
                        <a:ea typeface="Calibri" charset="0"/>
                        <a:cs typeface="Calibri" charset="0"/>
                      </a:endParaRPr>
                    </a:p>
                  </a:txBody>
                  <a:tcPr marL="73152" marR="73152" marT="27432" marB="27432"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tcPr>
                </a:tc>
              </a:tr>
            </a:tbl>
          </a:graphicData>
        </a:graphic>
      </p:graphicFrame>
      <p:sp>
        <p:nvSpPr>
          <p:cNvPr id="4" name="Text 1"/>
          <p:cNvSpPr txBox="1"/>
          <p:nvPr/>
        </p:nvSpPr>
        <p:spPr>
          <a:xfrm>
            <a:off x="548640" y="3794760"/>
            <a:ext cx="6949440" cy="274320"/>
          </a:xfrm>
          <a:prstGeom prst="rect">
            <a:avLst/>
          </a:prstGeom>
          <a:noFill/>
          <a:ln/>
        </p:spPr>
        <p:txBody>
          <a:bodyPr wrap="square" lIns="0" tIns="0" rIns="0" bIns="0" rtlCol="0" anchor="t"/>
          <a:lstStyle/>
          <a:p>
            <a:pPr indent="0" marL="0">
              <a:buNone/>
            </a:pPr>
            <a:r>
              <a:rPr lang="en-US" sz="1100" i="1" dirty="0">
                <a:solidFill>
                  <a:schemeClr val="accent5"/>
                </a:solidFill>
              </a:rPr>
              <a:t>* fixed-arm energy is over that arm's own, smaller reachable set</a:t>
            </a:r>
            <a:endParaRPr lang="en-US" sz="1100" dirty="0"/>
          </a:p>
        </p:txBody>
      </p:sp>
      <p:sp>
        <p:nvSpPr>
          <p:cNvPr id="5" name="Text 2"/>
          <p:cNvSpPr txBox="1"/>
          <p:nvPr/>
        </p:nvSpPr>
        <p:spPr>
          <a:xfrm>
            <a:off x="548640" y="4160520"/>
            <a:ext cx="6949440" cy="91440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Using all 4 arms: </a:t>
            </a:r>
            <a:pPr indent="0" marL="0">
              <a:spcAft>
                <a:spcPts val="600"/>
              </a:spcAft>
              <a:buNone/>
            </a:pPr>
            <a:r>
              <a:rPr lang="en-US" sz="1600" b="1" u="sng" dirty="0">
                <a:solidFill>
                  <a:schemeClr val="tx1"/>
                </a:solidFill>
              </a:rPr>
              <a:t>93.3% vs 63–65%</a:t>
            </a:r>
            <a:pPr indent="0" marL="0">
              <a:spcAft>
                <a:spcPts val="600"/>
              </a:spcAft>
              <a:buNone/>
            </a:pPr>
            <a:r>
              <a:rPr lang="en-US" sz="1600" dirty="0">
                <a:solidFill>
                  <a:schemeClr val="tx1"/>
                </a:solidFill>
              </a:rPr>
              <a:t> plan success.</a:t>
            </a:r>
            <a:endParaRPr lang="en-US" sz="1600" dirty="0"/>
          </a:p>
          <a:p>
            <a:pPr indent="0" marL="0">
              <a:spcAft>
                <a:spcPts val="600"/>
              </a:spcAft>
              <a:buNone/>
            </a:pPr>
            <a:r>
              <a:rPr lang="en-US" sz="1600" b="1" dirty="0">
                <a:solidFill>
                  <a:schemeClr val="tx1"/>
                </a:solidFill>
              </a:rPr>
              <a:t>Energy-aware: </a:t>
            </a:r>
            <a:pPr indent="0" marL="0">
              <a:spcAft>
                <a:spcPts val="600"/>
              </a:spcAft>
              <a:buNone/>
            </a:pPr>
            <a:r>
              <a:rPr lang="en-US" sz="1600" b="1" u="sng" dirty="0">
                <a:solidFill>
                  <a:schemeClr val="tx1"/>
                </a:solidFill>
              </a:rPr>
              <a:t>lowest mean energy</a:t>
            </a:r>
            <a:pPr indent="0" marL="0">
              <a:spcAft>
                <a:spcPts val="600"/>
              </a:spcAft>
              <a:buNone/>
            </a:pPr>
            <a:r>
              <a:rPr lang="en-US" sz="1600" dirty="0">
                <a:solidFill>
                  <a:schemeClr val="tx1"/>
                </a:solidFill>
              </a:rPr>
              <a:t>, −5.1% vs nearest, −3.1% vs random; same-target wins 57% / 61%.</a:t>
            </a:r>
            <a:endParaRPr lang="en-US" sz="1600" dirty="0"/>
          </a:p>
        </p:txBody>
      </p:sp>
      <p:sp>
        <p:nvSpPr>
          <p:cNvPr id="6" name="example"/>
          <p:cNvSpPr/>
          <p:nvPr/>
        </p:nvSpPr>
        <p:spPr>
          <a:xfrm>
            <a:off x="548640" y="5166360"/>
            <a:ext cx="6949440" cy="914400"/>
          </a:xfrm>
          <a:prstGeom prst="rect">
            <a:avLst/>
          </a:prstGeom>
          <a:solidFill>
            <a:schemeClr val="bg2"/>
          </a:solidFill>
          <a:ln w="12700">
            <a:solidFill>
              <a:schemeClr val="bg2"/>
            </a:solidFill>
            <a:prstDash val="solid"/>
          </a:ln>
        </p:spPr>
      </p:sp>
      <p:sp>
        <p:nvSpPr>
          <p:cNvPr id="7" name="Text 4"/>
          <p:cNvSpPr txBox="1"/>
          <p:nvPr/>
        </p:nvSpPr>
        <p:spPr>
          <a:xfrm>
            <a:off x="685800" y="5166360"/>
            <a:ext cx="6675120" cy="914400"/>
          </a:xfrm>
          <a:prstGeom prst="rect">
            <a:avLst/>
          </a:prstGeom>
          <a:noFill/>
          <a:ln/>
        </p:spPr>
        <p:txBody>
          <a:bodyPr wrap="square" lIns="0" tIns="0" rIns="0" bIns="0" rtlCol="0" anchor="ctr"/>
          <a:lstStyle/>
          <a:p>
            <a:pPr indent="0" marL="0">
              <a:buNone/>
            </a:pPr>
            <a:r>
              <a:rPr lang="en-US" sz="1500" b="1" dirty="0">
                <a:solidFill>
                  <a:schemeClr val="tx1"/>
                </a:solidFill>
              </a:rPr>
              <a:t>Same target as before: </a:t>
            </a:r>
            <a:pPr indent="0" marL="0">
              <a:buNone/>
            </a:pPr>
            <a:r>
              <a:rPr lang="en-US" sz="1500" dirty="0">
                <a:solidFill>
                  <a:schemeClr val="tx1"/>
                </a:solidFill>
              </a:rPr>
              <a:t>ours picks arm_3, rail 0.64 m, 42.4 J vs nearest arm_4, rail 1.15 m, 72.5 J  → </a:t>
            </a:r>
            <a:pPr indent="0" marL="0">
              <a:buNone/>
            </a:pPr>
            <a:r>
              <a:rPr lang="en-US" sz="1500" b="1" u="sng" dirty="0">
                <a:solidFill>
                  <a:schemeClr val="tx1"/>
                </a:solidFill>
              </a:rPr>
              <a:t>−30.1 J</a:t>
            </a:r>
            <a:endParaRPr lang="en-US" sz="1500" dirty="0"/>
          </a:p>
        </p:txBody>
      </p:sp>
      <p:pic>
        <p:nvPicPr>
          <p:cNvPr id="8" name="Energy box plot" descr="/tmp/claude-1003/-srv-data-users-raditya-arm-WS-ceiling-arm/be5ae870-e296-4224-b9f7-0876347de272/scratchpad/deck/img/results_energy_only-1.png">    </p:cNvPr>
          <p:cNvPicPr>
            <a:picLocks noChangeAspect="1"/>
          </p:cNvPicPr>
          <p:nvPr/>
        </p:nvPicPr>
        <p:blipFill>
          <a:blip r:embed="rId1"/>
          <a:stretch>
            <a:fillRect/>
          </a:stretch>
        </p:blipFill>
        <p:spPr>
          <a:xfrm>
            <a:off x="7818120" y="1234440"/>
            <a:ext cx="3822192" cy="2962656"/>
          </a:xfrm>
          <a:prstGeom prst="rect">
            <a:avLst/>
          </a:prstGeom>
        </p:spPr>
      </p:pic>
      <p:sp>
        <p:nvSpPr>
          <p:cNvPr id="9" name="Text 5"/>
          <p:cNvSpPr txBox="1"/>
          <p:nvPr/>
        </p:nvSpPr>
        <p:spPr>
          <a:xfrm>
            <a:off x="7818120" y="4224528"/>
            <a:ext cx="3822192" cy="274320"/>
          </a:xfrm>
          <a:prstGeom prst="rect">
            <a:avLst/>
          </a:prstGeom>
          <a:noFill/>
          <a:ln/>
        </p:spPr>
        <p:txBody>
          <a:bodyPr wrap="square" lIns="0" tIns="0" rIns="0" bIns="0" rtlCol="0" anchor="t"/>
          <a:lstStyle/>
          <a:p>
            <a:pPr indent="0" marL="0">
              <a:buNone/>
            </a:pPr>
            <a:r>
              <a:rPr lang="en-US" sz="1100" i="1" dirty="0">
                <a:solidFill>
                  <a:schemeClr val="accent5"/>
                </a:solidFill>
              </a:rPr>
              <a:t>Measured trajectory energy per policy (◇ = mean)</a:t>
            </a:r>
            <a:endParaRPr lang="en-US" sz="1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chemeClr val="tx2"/>
                </a:solidFill>
              </a:rPr>
              <a:t>Sensitivity to the Assumed Rail Friction</a:t>
            </a:r>
            <a:endParaRPr lang="en-US" sz="3200" dirty="0"/>
          </a:p>
        </p:txBody>
      </p:sp>
      <p:graphicFrame>
        <p:nvGraphicFramePr>
          <p:cNvPr id="3" name="Chart 0" descr=""/>
          <p:cNvGraphicFramePr/>
          <p:nvPr/>
        </p:nvGraphicFramePr>
        <p:xfrm>
          <a:off x="548640" y="1188720"/>
          <a:ext cx="676656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635240" y="1188720"/>
            <a:ext cx="4005072" cy="1417320"/>
          </a:xfrm>
          <a:prstGeom prst="rect">
            <a:avLst/>
          </a:prstGeom>
          <a:solidFill>
            <a:schemeClr val="bg1"/>
          </a:solidFill>
          <a:ln w="25400">
            <a:solidFill>
              <a:schemeClr val="tx1"/>
            </a:solidFill>
            <a:prstDash val="solid"/>
          </a:ln>
        </p:spPr>
      </p:sp>
      <p:sp>
        <p:nvSpPr>
          <p:cNvPr id="5" name="Text 2"/>
          <p:cNvSpPr txBox="1"/>
          <p:nvPr/>
        </p:nvSpPr>
        <p:spPr>
          <a:xfrm>
            <a:off x="7818120" y="1234440"/>
            <a:ext cx="3657600" cy="1325880"/>
          </a:xfrm>
          <a:prstGeom prst="rect">
            <a:avLst/>
          </a:prstGeom>
          <a:noFill/>
          <a:ln/>
        </p:spPr>
        <p:txBody>
          <a:bodyPr wrap="square" lIns="0" tIns="0" rIns="0" bIns="0" rtlCol="0" anchor="ctr"/>
          <a:lstStyle/>
          <a:p>
            <a:pPr indent="0" marL="0">
              <a:buNone/>
            </a:pPr>
            <a:r>
              <a:rPr lang="en-US" sz="1600" b="1" u="sng" dirty="0">
                <a:solidFill>
                  <a:schemeClr val="tx1"/>
                </a:solidFill>
              </a:rPr>
              <a:t>Saving grows with friction:</a:t>
            </a:r>
            <a:pPr indent="0" marL="0">
              <a:buNone/>
            </a:pPr>
            <a:r>
              <a:rPr lang="en-US" sz="1600" dirty="0">
                <a:solidFill>
                  <a:schemeClr val="tx1"/>
                </a:solidFill>
              </a:rPr>
              <a:t> 5.1% at μ = 0.15  →  12.4% at 3× (μ = 0.45) vs nearest; pairwise wins 84–86%.</a:t>
            </a:r>
            <a:endParaRPr lang="en-US" sz="1600" dirty="0"/>
          </a:p>
        </p:txBody>
      </p:sp>
      <p:sp>
        <p:nvSpPr>
          <p:cNvPr id="6" name="Text 3"/>
          <p:cNvSpPr txBox="1"/>
          <p:nvPr/>
        </p:nvSpPr>
        <p:spPr>
          <a:xfrm>
            <a:off x="7635240" y="2834640"/>
            <a:ext cx="4005072" cy="2194560"/>
          </a:xfrm>
          <a:prstGeom prst="rect">
            <a:avLst/>
          </a:prstGeom>
          <a:noFill/>
          <a:ln/>
        </p:spPr>
        <p:txBody>
          <a:bodyPr wrap="square" lIns="0" tIns="0" rIns="0" bIns="0" rtlCol="0" anchor="t"/>
          <a:lstStyle/>
          <a:p>
            <a:pPr indent="0" marL="0">
              <a:spcAft>
                <a:spcPts val="800"/>
              </a:spcAft>
              <a:buNone/>
            </a:pPr>
            <a:r>
              <a:rPr lang="en-US" sz="1500" dirty="0">
                <a:solidFill>
                  <a:schemeClr val="tx1"/>
                </a:solidFill>
              </a:rPr>
              <a:t>Same planned trajectories re-scored with friction 0–3× nominal; selections kept fixed.</a:t>
            </a:r>
            <a:endParaRPr lang="en-US" sz="1500" dirty="0"/>
          </a:p>
          <a:p>
            <a:pPr indent="0" marL="0">
              <a:spcAft>
                <a:spcPts val="800"/>
              </a:spcAft>
              <a:buNone/>
            </a:pPr>
            <a:r>
              <a:rPr lang="en-US" sz="1500" dirty="0">
                <a:solidFill>
                  <a:schemeClr val="tx1"/>
                </a:solidFill>
              </a:rPr>
              <a:t>Ours stays lowest for μ &gt; ~0.11.</a:t>
            </a:r>
            <a:endParaRPr lang="en-US" sz="1500" dirty="0"/>
          </a:p>
          <a:p>
            <a:pPr indent="0" marL="0">
              <a:spcAft>
                <a:spcPts val="800"/>
              </a:spcAft>
              <a:buNone/>
            </a:pPr>
            <a:r>
              <a:rPr lang="en-US" sz="1500" dirty="0">
                <a:solidFill>
                  <a:schemeClr val="tx1"/>
                </a:solidFill>
              </a:rPr>
              <a:t>At μ = 0.10 the policies are within ~1%; below that rail travel is cheap and the ranking reverses.</a:t>
            </a:r>
            <a:endParaRPr lang="en-US" sz="1500" dirty="0"/>
          </a:p>
        </p:txBody>
      </p:sp>
      <p:sp>
        <p:nvSpPr>
          <p:cNvPr id="7" name="next step"/>
          <p:cNvSpPr/>
          <p:nvPr/>
        </p:nvSpPr>
        <p:spPr>
          <a:xfrm>
            <a:off x="7635240" y="5166360"/>
            <a:ext cx="4005072" cy="868680"/>
          </a:xfrm>
          <a:prstGeom prst="rect">
            <a:avLst/>
          </a:prstGeom>
          <a:solidFill>
            <a:schemeClr val="bg2"/>
          </a:solidFill>
          <a:ln w="12700">
            <a:solidFill>
              <a:schemeClr val="bg2"/>
            </a:solidFill>
            <a:prstDash val="solid"/>
          </a:ln>
        </p:spPr>
      </p:sp>
      <p:sp>
        <p:nvSpPr>
          <p:cNvPr id="8" name="Text 5"/>
          <p:cNvSpPr txBox="1"/>
          <p:nvPr/>
        </p:nvSpPr>
        <p:spPr>
          <a:xfrm>
            <a:off x="7772400" y="5166360"/>
            <a:ext cx="3749040" cy="868680"/>
          </a:xfrm>
          <a:prstGeom prst="rect">
            <a:avLst/>
          </a:prstGeom>
          <a:noFill/>
          <a:ln/>
        </p:spPr>
        <p:txBody>
          <a:bodyPr wrap="square" lIns="0" tIns="0" rIns="0" bIns="0" rtlCol="0" anchor="ctr"/>
          <a:lstStyle/>
          <a:p>
            <a:pPr indent="0" marL="0">
              <a:buNone/>
            </a:pPr>
            <a:r>
              <a:rPr lang="en-US" sz="1500" b="1" dirty="0">
                <a:solidFill>
                  <a:schemeClr val="tx1"/>
                </a:solidFill>
              </a:rPr>
              <a:t>Key next step: </a:t>
            </a:r>
            <a:pPr indent="0" marL="0">
              <a:buNone/>
            </a:pPr>
            <a:r>
              <a:rPr lang="en-US" sz="1500" dirty="0">
                <a:solidFill>
                  <a:schemeClr val="tx1"/>
                </a:solidFill>
              </a:rPr>
              <a:t>measure the real rail friction on the hardware.</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chemeClr val="tx2"/>
                </a:solidFill>
              </a:rPr>
              <a:t>End-to-End Pick and Reachability Classification</a:t>
            </a:r>
            <a:endParaRPr lang="en-US" sz="3200" dirty="0"/>
          </a:p>
        </p:txBody>
      </p:sp>
      <p:pic>
        <p:nvPicPr>
          <p:cNvPr id="3" name="End-to-end pick" descr="/tmp/claude-1003/-srv-data-users-raditya-arm-WS-ceiling-arm/be5ae870-e296-4224-b9f7-0876347de272/scratchpad/deck/img/fig5-pick_banana.png">    </p:cNvPr>
          <p:cNvPicPr>
            <a:picLocks noChangeAspect="1"/>
          </p:cNvPicPr>
          <p:nvPr/>
        </p:nvPicPr>
        <p:blipFill>
          <a:blip r:embed="rId1"/>
          <a:stretch>
            <a:fillRect/>
          </a:stretch>
        </p:blipFill>
        <p:spPr>
          <a:xfrm>
            <a:off x="548640" y="1188720"/>
            <a:ext cx="5760720" cy="4023360"/>
          </a:xfrm>
          <a:prstGeom prst="rect">
            <a:avLst/>
          </a:prstGeom>
        </p:spPr>
      </p:pic>
      <p:sp>
        <p:nvSpPr>
          <p:cNvPr id="4" name="Text 1"/>
          <p:cNvSpPr txBox="1"/>
          <p:nvPr/>
        </p:nvSpPr>
        <p:spPr>
          <a:xfrm>
            <a:off x="548640" y="5257800"/>
            <a:ext cx="5760720" cy="274320"/>
          </a:xfrm>
          <a:prstGeom prst="rect">
            <a:avLst/>
          </a:prstGeom>
          <a:noFill/>
          <a:ln/>
        </p:spPr>
        <p:txBody>
          <a:bodyPr wrap="square" lIns="0" tIns="0" rIns="0" bIns="0" rtlCol="0" anchor="t"/>
          <a:lstStyle/>
          <a:p>
            <a:pPr indent="0" marL="0">
              <a:buNone/>
            </a:pPr>
            <a:r>
              <a:rPr lang="en-US" sz="1100" i="1" dirty="0">
                <a:solidFill>
                  <a:schemeClr val="accent5"/>
                </a:solidFill>
              </a:rPr>
              <a:t>arm_2 approaching the banana (Isaac Sim physics)</a:t>
            </a:r>
            <a:endParaRPr lang="en-US" sz="1100" dirty="0"/>
          </a:p>
        </p:txBody>
      </p:sp>
      <p:sp>
        <p:nvSpPr>
          <p:cNvPr id="5" name="stat"/>
          <p:cNvSpPr/>
          <p:nvPr/>
        </p:nvSpPr>
        <p:spPr>
          <a:xfrm>
            <a:off x="6675120" y="1188720"/>
            <a:ext cx="4965192" cy="1325880"/>
          </a:xfrm>
          <a:prstGeom prst="rect">
            <a:avLst/>
          </a:prstGeom>
          <a:solidFill>
            <a:schemeClr val="bg2"/>
          </a:solidFill>
          <a:ln w="12700">
            <a:solidFill>
              <a:schemeClr val="bg2"/>
            </a:solidFill>
            <a:prstDash val="solid"/>
          </a:ln>
        </p:spPr>
      </p:sp>
      <p:sp>
        <p:nvSpPr>
          <p:cNvPr id="6" name="Text 3"/>
          <p:cNvSpPr txBox="1"/>
          <p:nvPr/>
        </p:nvSpPr>
        <p:spPr>
          <a:xfrm>
            <a:off x="6812280" y="1188720"/>
            <a:ext cx="1737360" cy="1325880"/>
          </a:xfrm>
          <a:prstGeom prst="rect">
            <a:avLst/>
          </a:prstGeom>
          <a:noFill/>
          <a:ln/>
        </p:spPr>
        <p:txBody>
          <a:bodyPr wrap="square" lIns="0" tIns="0" rIns="0" bIns="0" rtlCol="0" anchor="ctr"/>
          <a:lstStyle/>
          <a:p>
            <a:pPr indent="0" marL="0">
              <a:buNone/>
            </a:pPr>
            <a:r>
              <a:rPr lang="en-US" sz="3400" b="1" dirty="0">
                <a:solidFill>
                  <a:schemeClr val="tx2"/>
                </a:solidFill>
              </a:rPr>
              <a:t>35/35</a:t>
            </a:r>
            <a:endParaRPr lang="en-US" sz="3400" dirty="0"/>
          </a:p>
        </p:txBody>
      </p:sp>
      <p:sp>
        <p:nvSpPr>
          <p:cNvPr id="7" name="Text 4"/>
          <p:cNvSpPr txBox="1"/>
          <p:nvPr/>
        </p:nvSpPr>
        <p:spPr>
          <a:xfrm>
            <a:off x="8595360" y="1188720"/>
            <a:ext cx="2926080" cy="1325880"/>
          </a:xfrm>
          <a:prstGeom prst="rect">
            <a:avLst/>
          </a:prstGeom>
          <a:noFill/>
          <a:ln/>
        </p:spPr>
        <p:txBody>
          <a:bodyPr wrap="square" lIns="0" tIns="0" rIns="0" bIns="0" rtlCol="0" anchor="ctr"/>
          <a:lstStyle/>
          <a:p>
            <a:pPr indent="0" marL="0">
              <a:buNone/>
            </a:pPr>
            <a:r>
              <a:rPr lang="en-US" sz="1400" b="1" dirty="0">
                <a:solidFill>
                  <a:schemeClr val="tx1"/>
                </a:solidFill>
              </a:rPr>
              <a:t>picks succeeded</a:t>
            </a:r>
            <a:endParaRPr lang="en-US" sz="1400" dirty="0"/>
          </a:p>
          <a:p>
            <a:pPr indent="0" marL="0">
              <a:buNone/>
            </a:pPr>
            <a:r>
              <a:rPr lang="en-US" sz="1400" dirty="0">
                <a:solidFill>
                  <a:schemeClr val="tx1"/>
                </a:solidFill>
              </a:rPr>
              <a:t>7 objects × 5 trials, 0 failures</a:t>
            </a:r>
            <a:endParaRPr lang="en-US" sz="1400" dirty="0"/>
          </a:p>
          <a:p>
            <a:pPr indent="0" marL="0">
              <a:buNone/>
            </a:pPr>
            <a:r>
              <a:rPr lang="en-US" sz="1400" dirty="0">
                <a:solidFill>
                  <a:schemeClr val="tx1"/>
                </a:solidFill>
              </a:rPr>
              <a:t>time-to-pick mean 39.6 s, median 28.1 s</a:t>
            </a:r>
            <a:endParaRPr lang="en-US" sz="1400" dirty="0"/>
          </a:p>
        </p:txBody>
      </p:sp>
      <p:sp>
        <p:nvSpPr>
          <p:cNvPr id="8" name="stat"/>
          <p:cNvSpPr/>
          <p:nvPr/>
        </p:nvSpPr>
        <p:spPr>
          <a:xfrm>
            <a:off x="6675120" y="2697480"/>
            <a:ext cx="4965192" cy="1325880"/>
          </a:xfrm>
          <a:prstGeom prst="rect">
            <a:avLst/>
          </a:prstGeom>
          <a:solidFill>
            <a:schemeClr val="bg2"/>
          </a:solidFill>
          <a:ln w="12700">
            <a:solidFill>
              <a:schemeClr val="bg2"/>
            </a:solidFill>
            <a:prstDash val="solid"/>
          </a:ln>
        </p:spPr>
      </p:sp>
      <p:sp>
        <p:nvSpPr>
          <p:cNvPr id="9" name="Text 6"/>
          <p:cNvSpPr txBox="1"/>
          <p:nvPr/>
        </p:nvSpPr>
        <p:spPr>
          <a:xfrm>
            <a:off x="6812280" y="2697480"/>
            <a:ext cx="1737360" cy="1325880"/>
          </a:xfrm>
          <a:prstGeom prst="rect">
            <a:avLst/>
          </a:prstGeom>
          <a:noFill/>
          <a:ln/>
        </p:spPr>
        <p:txBody>
          <a:bodyPr wrap="square" lIns="0" tIns="0" rIns="0" bIns="0" rtlCol="0" anchor="ctr"/>
          <a:lstStyle/>
          <a:p>
            <a:pPr indent="0" marL="0">
              <a:buNone/>
            </a:pPr>
            <a:r>
              <a:rPr lang="en-US" sz="3400" b="1" dirty="0">
                <a:solidFill>
                  <a:schemeClr val="tx2"/>
                </a:solidFill>
              </a:rPr>
              <a:t>8/8</a:t>
            </a:r>
            <a:endParaRPr lang="en-US" sz="3400" dirty="0"/>
          </a:p>
        </p:txBody>
      </p:sp>
      <p:sp>
        <p:nvSpPr>
          <p:cNvPr id="10" name="Text 7"/>
          <p:cNvSpPr txBox="1"/>
          <p:nvPr/>
        </p:nvSpPr>
        <p:spPr>
          <a:xfrm>
            <a:off x="8595360" y="2697480"/>
            <a:ext cx="2926080" cy="1325880"/>
          </a:xfrm>
          <a:prstGeom prst="rect">
            <a:avLst/>
          </a:prstGeom>
          <a:noFill/>
          <a:ln/>
        </p:spPr>
        <p:txBody>
          <a:bodyPr wrap="square" lIns="0" tIns="0" rIns="0" bIns="0" rtlCol="0" anchor="ctr"/>
          <a:lstStyle/>
          <a:p>
            <a:pPr indent="0" marL="0">
              <a:buNone/>
            </a:pPr>
            <a:r>
              <a:rPr lang="en-US" sz="1400" b="1" dirty="0">
                <a:solidFill>
                  <a:schemeClr val="tx1"/>
                </a:solidFill>
              </a:rPr>
              <a:t>reachability correctly classified</a:t>
            </a:r>
            <a:endParaRPr lang="en-US" sz="1400" dirty="0"/>
          </a:p>
          <a:p>
            <a:pPr indent="0" marL="0">
              <a:buNone/>
            </a:pPr>
            <a:r>
              <a:rPr lang="en-US" sz="1400" dirty="0">
                <a:solidFill>
                  <a:schemeClr val="tx1"/>
                </a:solidFill>
              </a:rPr>
              <a:t>by GNG nearest-node test (r ≥ 0.12 m), 0 false positives</a:t>
            </a:r>
            <a:endParaRPr lang="en-US" sz="1400" dirty="0"/>
          </a:p>
        </p:txBody>
      </p:sp>
      <p:sp>
        <p:nvSpPr>
          <p:cNvPr id="11" name="stat"/>
          <p:cNvSpPr/>
          <p:nvPr/>
        </p:nvSpPr>
        <p:spPr>
          <a:xfrm>
            <a:off x="6675120" y="4206240"/>
            <a:ext cx="4965192" cy="1325880"/>
          </a:xfrm>
          <a:prstGeom prst="rect">
            <a:avLst/>
          </a:prstGeom>
          <a:solidFill>
            <a:schemeClr val="bg2"/>
          </a:solidFill>
          <a:ln w="12700">
            <a:solidFill>
              <a:schemeClr val="bg2"/>
            </a:solidFill>
            <a:prstDash val="solid"/>
          </a:ln>
        </p:spPr>
      </p:sp>
      <p:sp>
        <p:nvSpPr>
          <p:cNvPr id="12" name="Text 9"/>
          <p:cNvSpPr txBox="1"/>
          <p:nvPr/>
        </p:nvSpPr>
        <p:spPr>
          <a:xfrm>
            <a:off x="6812280" y="4206240"/>
            <a:ext cx="1737360" cy="1325880"/>
          </a:xfrm>
          <a:prstGeom prst="rect">
            <a:avLst/>
          </a:prstGeom>
          <a:noFill/>
          <a:ln/>
        </p:spPr>
        <p:txBody>
          <a:bodyPr wrap="square" lIns="0" tIns="0" rIns="0" bIns="0" rtlCol="0" anchor="ctr"/>
          <a:lstStyle/>
          <a:p>
            <a:pPr indent="0" marL="0">
              <a:buNone/>
            </a:pPr>
            <a:r>
              <a:rPr lang="en-US" sz="3400" b="1" dirty="0">
                <a:solidFill>
                  <a:schemeClr val="tx2"/>
                </a:solidFill>
              </a:rPr>
              <a:t>3 arms</a:t>
            </a:r>
            <a:endParaRPr lang="en-US" sz="3400" dirty="0"/>
          </a:p>
        </p:txBody>
      </p:sp>
      <p:sp>
        <p:nvSpPr>
          <p:cNvPr id="13" name="Text 10"/>
          <p:cNvSpPr txBox="1"/>
          <p:nvPr/>
        </p:nvSpPr>
        <p:spPr>
          <a:xfrm>
            <a:off x="8595360" y="4206240"/>
            <a:ext cx="2926080" cy="1325880"/>
          </a:xfrm>
          <a:prstGeom prst="rect">
            <a:avLst/>
          </a:prstGeom>
          <a:noFill/>
          <a:ln/>
        </p:spPr>
        <p:txBody>
          <a:bodyPr wrap="square" lIns="0" tIns="0" rIns="0" bIns="0" rtlCol="0" anchor="ctr"/>
          <a:lstStyle/>
          <a:p>
            <a:pPr indent="0" marL="0">
              <a:buNone/>
            </a:pPr>
            <a:r>
              <a:rPr lang="en-US" sz="1400" b="1" dirty="0">
                <a:solidFill>
                  <a:schemeClr val="tx1"/>
                </a:solidFill>
              </a:rPr>
              <a:t>used by energy mode</a:t>
            </a:r>
            <a:endParaRPr lang="en-US" sz="1400" dirty="0"/>
          </a:p>
          <a:p>
            <a:pPr indent="0" marL="0">
              <a:buNone/>
            </a:pPr>
            <a:r>
              <a:rPr lang="en-US" sz="1400" dirty="0">
                <a:solidFill>
                  <a:schemeClr val="tx1"/>
                </a:solidFill>
              </a:rPr>
              <a:t>arm_2/3/4 = 10/13/12 picks (arm_1 wins 12 of 60 grid targets)</a:t>
            </a:r>
            <a:endParaRPr lang="en-US" sz="1400" dirty="0"/>
          </a:p>
        </p:txBody>
      </p:sp>
      <p:sp>
        <p:nvSpPr>
          <p:cNvPr id="14" name="Text 11"/>
          <p:cNvSpPr txBox="1"/>
          <p:nvPr/>
        </p:nvSpPr>
        <p:spPr>
          <a:xfrm>
            <a:off x="6675120" y="5669280"/>
            <a:ext cx="4965192" cy="457200"/>
          </a:xfrm>
          <a:prstGeom prst="rect">
            <a:avLst/>
          </a:prstGeom>
          <a:noFill/>
          <a:ln/>
        </p:spPr>
        <p:txBody>
          <a:bodyPr wrap="square" lIns="0" tIns="0" rIns="0" bIns="0" rtlCol="0" anchor="t"/>
          <a:lstStyle/>
          <a:p>
            <a:pPr indent="0" marL="0">
              <a:buNone/>
            </a:pPr>
            <a:r>
              <a:rPr lang="en-US" sz="1200" i="1" dirty="0">
                <a:solidFill>
                  <a:schemeClr val="accent5"/>
                </a:solidFill>
              </a:rPr>
              <a:t>Object poses from Isaac ground truth; YOLOE-driven end-to-end picking is future work.</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chemeClr val="tx2"/>
                </a:solidFill>
              </a:rPr>
              <a:t>Conclusion and Future Work</a:t>
            </a:r>
            <a:endParaRPr lang="en-US" sz="3200" dirty="0"/>
          </a:p>
        </p:txBody>
      </p:sp>
      <p:sp>
        <p:nvSpPr>
          <p:cNvPr id="3" name="Shape 1"/>
          <p:cNvSpPr/>
          <p:nvPr/>
        </p:nvSpPr>
        <p:spPr>
          <a:xfrm>
            <a:off x="548640" y="1280160"/>
            <a:ext cx="731520" cy="731520"/>
          </a:xfrm>
          <a:prstGeom prst="roundRect">
            <a:avLst>
              <a:gd name="adj" fmla="val 10000"/>
            </a:avLst>
          </a:prstGeom>
          <a:solidFill>
            <a:schemeClr val="accent1"/>
          </a:solidFill>
          <a:ln w="12700">
            <a:solidFill>
              <a:schemeClr val="accent1"/>
            </a:solidFill>
            <a:prstDash val="solid"/>
          </a:ln>
        </p:spPr>
      </p:sp>
      <p:sp>
        <p:nvSpPr>
          <p:cNvPr id="4" name="Text 2"/>
          <p:cNvSpPr txBox="1"/>
          <p:nvPr/>
        </p:nvSpPr>
        <p:spPr>
          <a:xfrm>
            <a:off x="548640" y="1280160"/>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C1</a:t>
            </a:r>
            <a:endParaRPr lang="en-US" sz="1800" dirty="0"/>
          </a:p>
        </p:txBody>
      </p:sp>
      <p:sp>
        <p:nvSpPr>
          <p:cNvPr id="5" name="Text 3"/>
          <p:cNvSpPr txBox="1"/>
          <p:nvPr/>
        </p:nvSpPr>
        <p:spPr>
          <a:xfrm>
            <a:off x="1463040" y="1280160"/>
            <a:ext cx="10332720" cy="731520"/>
          </a:xfrm>
          <a:prstGeom prst="rect">
            <a:avLst/>
          </a:prstGeom>
          <a:noFill/>
          <a:ln/>
        </p:spPr>
        <p:txBody>
          <a:bodyPr wrap="square" lIns="0" tIns="0" rIns="0" bIns="0" rtlCol="0" anchor="ctr"/>
          <a:lstStyle/>
          <a:p>
            <a:pPr indent="0" marL="0">
              <a:buNone/>
            </a:pPr>
            <a:r>
              <a:rPr lang="en-US" sz="1700" b="1" u="sng" dirty="0">
                <a:solidFill>
                  <a:schemeClr val="tx1"/>
                </a:solidFill>
              </a:rPr>
              <a:t>Energy-aware selection</a:t>
            </a:r>
            <a:pPr indent="0" marL="0">
              <a:buNone/>
            </a:pPr>
            <a:r>
              <a:rPr lang="en-US" sz="1700" dirty="0">
                <a:solidFill>
                  <a:schemeClr val="tx1"/>
                </a:solidFill>
              </a:rPr>
              <a:t> chooses arm + full 8-DOF config: lowest mean energy of the multi-arm policies, and the gain grows with rail friction.</a:t>
            </a:r>
            <a:endParaRPr lang="en-US" sz="1700" dirty="0"/>
          </a:p>
        </p:txBody>
      </p:sp>
      <p:sp>
        <p:nvSpPr>
          <p:cNvPr id="6" name="Shape 4"/>
          <p:cNvSpPr/>
          <p:nvPr/>
        </p:nvSpPr>
        <p:spPr>
          <a:xfrm>
            <a:off x="548640" y="2240280"/>
            <a:ext cx="731520" cy="731520"/>
          </a:xfrm>
          <a:prstGeom prst="roundRect">
            <a:avLst>
              <a:gd name="adj" fmla="val 10000"/>
            </a:avLst>
          </a:prstGeom>
          <a:solidFill>
            <a:schemeClr val="accent1"/>
          </a:solidFill>
          <a:ln w="12700">
            <a:solidFill>
              <a:schemeClr val="accent1"/>
            </a:solidFill>
            <a:prstDash val="solid"/>
          </a:ln>
        </p:spPr>
      </p:sp>
      <p:sp>
        <p:nvSpPr>
          <p:cNvPr id="7" name="Text 5"/>
          <p:cNvSpPr txBox="1"/>
          <p:nvPr/>
        </p:nvSpPr>
        <p:spPr>
          <a:xfrm>
            <a:off x="548640" y="2240280"/>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C2</a:t>
            </a:r>
            <a:endParaRPr lang="en-US" sz="1800" dirty="0"/>
          </a:p>
        </p:txBody>
      </p:sp>
      <p:sp>
        <p:nvSpPr>
          <p:cNvPr id="8" name="Text 6"/>
          <p:cNvSpPr txBox="1"/>
          <p:nvPr/>
        </p:nvSpPr>
        <p:spPr>
          <a:xfrm>
            <a:off x="1463040" y="2240280"/>
            <a:ext cx="10332720" cy="731520"/>
          </a:xfrm>
          <a:prstGeom prst="rect">
            <a:avLst/>
          </a:prstGeom>
          <a:noFill/>
          <a:ln/>
        </p:spPr>
        <p:txBody>
          <a:bodyPr wrap="square" lIns="0" tIns="0" rIns="0" bIns="0" rtlCol="0" anchor="ctr"/>
          <a:lstStyle/>
          <a:p>
            <a:pPr indent="0" marL="0">
              <a:buNone/>
            </a:pPr>
            <a:r>
              <a:rPr lang="en-US" sz="1700" b="1" u="sng" dirty="0">
                <a:solidFill>
                  <a:schemeClr val="tx1"/>
                </a:solidFill>
              </a:rPr>
              <a:t>Base-aware GNG map</a:t>
            </a:r>
            <a:pPr indent="0" marL="0">
              <a:buNone/>
            </a:pPr>
            <a:r>
              <a:rPr lang="en-US" sz="1700" dirty="0">
                <a:solidFill>
                  <a:schemeClr val="tx1"/>
                </a:solidFill>
              </a:rPr>
              <a:t>: ≈4× reachable workspace, edge error 0.8 cm, 100% reachability classification.</a:t>
            </a:r>
            <a:endParaRPr lang="en-US" sz="1700" dirty="0"/>
          </a:p>
        </p:txBody>
      </p:sp>
      <p:sp>
        <p:nvSpPr>
          <p:cNvPr id="9" name="Shape 7"/>
          <p:cNvSpPr/>
          <p:nvPr/>
        </p:nvSpPr>
        <p:spPr>
          <a:xfrm>
            <a:off x="548640" y="3200400"/>
            <a:ext cx="731520" cy="731520"/>
          </a:xfrm>
          <a:prstGeom prst="roundRect">
            <a:avLst>
              <a:gd name="adj" fmla="val 10000"/>
            </a:avLst>
          </a:prstGeom>
          <a:solidFill>
            <a:schemeClr val="accent1"/>
          </a:solidFill>
          <a:ln w="12700">
            <a:solidFill>
              <a:schemeClr val="accent1"/>
            </a:solidFill>
            <a:prstDash val="solid"/>
          </a:ln>
        </p:spPr>
      </p:sp>
      <p:sp>
        <p:nvSpPr>
          <p:cNvPr id="10" name="Text 8"/>
          <p:cNvSpPr txBox="1"/>
          <p:nvPr/>
        </p:nvSpPr>
        <p:spPr>
          <a:xfrm>
            <a:off x="548640" y="3200400"/>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C3</a:t>
            </a:r>
            <a:endParaRPr lang="en-US" sz="1800" dirty="0"/>
          </a:p>
        </p:txBody>
      </p:sp>
      <p:sp>
        <p:nvSpPr>
          <p:cNvPr id="11" name="Text 9"/>
          <p:cNvSpPr txBox="1"/>
          <p:nvPr/>
        </p:nvSpPr>
        <p:spPr>
          <a:xfrm>
            <a:off x="1463040" y="3200400"/>
            <a:ext cx="10332720" cy="731520"/>
          </a:xfrm>
          <a:prstGeom prst="rect">
            <a:avLst/>
          </a:prstGeom>
          <a:noFill/>
          <a:ln/>
        </p:spPr>
        <p:txBody>
          <a:bodyPr wrap="square" lIns="0" tIns="0" rIns="0" bIns="0" rtlCol="0" anchor="ctr"/>
          <a:lstStyle/>
          <a:p>
            <a:pPr indent="0" marL="0">
              <a:buNone/>
            </a:pPr>
            <a:r>
              <a:rPr lang="en-US" sz="1700" b="1" u="sng" dirty="0">
                <a:solidFill>
                  <a:schemeClr val="tx1"/>
                </a:solidFill>
              </a:rPr>
              <a:t>Isaac Sim evaluation</a:t>
            </a:r>
            <a:pPr indent="0" marL="0">
              <a:buNone/>
            </a:pPr>
            <a:r>
              <a:rPr lang="en-US" sz="1700" dirty="0">
                <a:solidFill>
                  <a:schemeClr val="tx1"/>
                </a:solidFill>
              </a:rPr>
              <a:t>: 93.3% vs 63–65% plan success, 35/35 end-to-end picks.</a:t>
            </a:r>
            <a:endParaRPr lang="en-US" sz="1700" dirty="0"/>
          </a:p>
        </p:txBody>
      </p:sp>
      <p:sp>
        <p:nvSpPr>
          <p:cNvPr id="12" name="future work"/>
          <p:cNvSpPr/>
          <p:nvPr/>
        </p:nvSpPr>
        <p:spPr>
          <a:xfrm>
            <a:off x="548640" y="4343400"/>
            <a:ext cx="6949440" cy="1691640"/>
          </a:xfrm>
          <a:prstGeom prst="rect">
            <a:avLst/>
          </a:prstGeom>
          <a:solidFill>
            <a:schemeClr val="bg2"/>
          </a:solidFill>
          <a:ln w="12700">
            <a:solidFill>
              <a:schemeClr val="bg2"/>
            </a:solidFill>
            <a:prstDash val="solid"/>
          </a:ln>
        </p:spPr>
      </p:sp>
      <p:sp>
        <p:nvSpPr>
          <p:cNvPr id="13" name="Text 11"/>
          <p:cNvSpPr txBox="1"/>
          <p:nvPr/>
        </p:nvSpPr>
        <p:spPr>
          <a:xfrm>
            <a:off x="731520" y="4434840"/>
            <a:ext cx="6583680" cy="1554480"/>
          </a:xfrm>
          <a:prstGeom prst="rect">
            <a:avLst/>
          </a:prstGeom>
          <a:noFill/>
          <a:ln/>
        </p:spPr>
        <p:txBody>
          <a:bodyPr wrap="square" lIns="0" tIns="0" rIns="0" bIns="0" rtlCol="0" anchor="t"/>
          <a:lstStyle/>
          <a:p>
            <a:pPr indent="0" marL="0">
              <a:spcAft>
                <a:spcPts val="300"/>
              </a:spcAft>
              <a:buNone/>
            </a:pPr>
            <a:r>
              <a:rPr lang="en-US" sz="1800" b="1" dirty="0">
                <a:solidFill>
                  <a:schemeClr val="tx2"/>
                </a:solidFill>
              </a:rPr>
              <a:t>Future work</a:t>
            </a:r>
            <a:endParaRPr lang="en-US" sz="1500" dirty="0"/>
          </a:p>
          <a:p>
            <a:pPr marL="342900" indent="-342900">
              <a:spcAft>
                <a:spcPts val="300"/>
              </a:spcAft>
              <a:buSzPct val="100000"/>
              <a:buChar char="•"/>
            </a:pPr>
            <a:r>
              <a:rPr lang="en-US" sz="1500" dirty="0">
                <a:solidFill>
                  <a:schemeClr val="tx1"/>
                </a:solidFill>
              </a:rPr>
              <a:t>Validate on the physical ceiling robot (trailer lab)</a:t>
            </a:r>
            <a:endParaRPr lang="en-US" sz="1500" dirty="0"/>
          </a:p>
          <a:p>
            <a:pPr marL="342900" indent="-342900">
              <a:spcAft>
                <a:spcPts val="300"/>
              </a:spcAft>
              <a:buSzPct val="100000"/>
              <a:buChar char="•"/>
            </a:pPr>
            <a:r>
              <a:rPr lang="en-US" sz="1500" dirty="0">
                <a:solidFill>
                  <a:schemeClr val="tx1"/>
                </a:solidFill>
              </a:rPr>
              <a:t>Measure real rail friction; sim-to-real gap of the weights of J</a:t>
            </a:r>
            <a:endParaRPr lang="en-US" sz="1500" dirty="0"/>
          </a:p>
          <a:p>
            <a:pPr marL="342900" indent="-342900">
              <a:spcAft>
                <a:spcPts val="300"/>
              </a:spcAft>
              <a:buSzPct val="100000"/>
              <a:buChar char="•"/>
            </a:pPr>
            <a:r>
              <a:rPr lang="en-US" sz="1500" dirty="0">
                <a:solidFill>
                  <a:schemeClr val="tx1"/>
                </a:solidFill>
              </a:rPr>
              <a:t>YOLOE-driven end-to-end picking</a:t>
            </a:r>
            <a:endParaRPr lang="en-US" sz="1500" dirty="0"/>
          </a:p>
        </p:txBody>
      </p:sp>
      <p:sp>
        <p:nvSpPr>
          <p:cNvPr id="14" name="Shape 12"/>
          <p:cNvSpPr/>
          <p:nvPr/>
        </p:nvSpPr>
        <p:spPr>
          <a:xfrm>
            <a:off x="7863840" y="4343400"/>
            <a:ext cx="3776472" cy="1691640"/>
          </a:xfrm>
          <a:prstGeom prst="rect">
            <a:avLst/>
          </a:prstGeom>
          <a:solidFill>
            <a:schemeClr val="bg1"/>
          </a:solidFill>
          <a:ln w="25400">
            <a:solidFill>
              <a:schemeClr val="tx1"/>
            </a:solidFill>
            <a:prstDash val="solid"/>
          </a:ln>
        </p:spPr>
      </p:sp>
      <p:sp>
        <p:nvSpPr>
          <p:cNvPr id="15" name="Text 13"/>
          <p:cNvSpPr txBox="1"/>
          <p:nvPr/>
        </p:nvSpPr>
        <p:spPr>
          <a:xfrm>
            <a:off x="7863840" y="4343400"/>
            <a:ext cx="3776472" cy="1691640"/>
          </a:xfrm>
          <a:prstGeom prst="rect">
            <a:avLst/>
          </a:prstGeom>
          <a:noFill/>
          <a:ln/>
        </p:spPr>
        <p:txBody>
          <a:bodyPr wrap="square" lIns="0" tIns="0" rIns="0" bIns="0" rtlCol="0" anchor="ctr"/>
          <a:lstStyle/>
          <a:p>
            <a:pPr algn="ctr" indent="0" marL="0">
              <a:buNone/>
            </a:pPr>
            <a:r>
              <a:rPr lang="en-US" sz="2800" b="1" dirty="0">
                <a:solidFill>
                  <a:schemeClr val="tx2"/>
                </a:solidFill>
              </a:rPr>
              <a:t>Thank you</a:t>
            </a:r>
            <a:endParaRPr lang="en-US" sz="1600" dirty="0"/>
          </a:p>
          <a:p>
            <a:pPr algn="ctr" indent="0" marL="0">
              <a:buNone/>
            </a:pPr>
            <a:r>
              <a:rPr lang="en-US" sz="1400" dirty="0">
                <a:solidFill>
                  <a:schemeClr val="tx1"/>
                </a:solidFill>
              </a:rPr>
              <a:t>rochmanto-artha@ed.tmu.ac.jp</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chemeClr val="tx2"/>
                </a:solidFill>
              </a:rPr>
              <a:t>Backup: Why We Report the Mean (Energies Are Bimodal)</a:t>
            </a:r>
            <a:endParaRPr lang="en-US" sz="3200" dirty="0"/>
          </a:p>
        </p:txBody>
      </p:sp>
      <p:graphicFrame>
        <p:nvGraphicFramePr>
          <p:cNvPr id="3" name="Chart 0" descr=""/>
          <p:cNvGraphicFramePr/>
          <p:nvPr/>
        </p:nvGraphicFramePr>
        <p:xfrm>
          <a:off x="548640" y="1188720"/>
          <a:ext cx="6766560" cy="48463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635240" y="1280160"/>
            <a:ext cx="4005072" cy="4754880"/>
          </a:xfrm>
          <a:prstGeom prst="rect">
            <a:avLst/>
          </a:prstGeom>
          <a:noFill/>
          <a:ln/>
        </p:spPr>
        <p:txBody>
          <a:bodyPr wrap="square" lIns="0" tIns="0" rIns="0" bIns="0" rtlCol="0" anchor="t"/>
          <a:lstStyle/>
          <a:p>
            <a:pPr indent="0" marL="0">
              <a:spcAft>
                <a:spcPts val="1000"/>
              </a:spcAft>
              <a:buNone/>
            </a:pPr>
            <a:r>
              <a:rPr lang="en-US" sz="1500" dirty="0">
                <a:solidFill>
                  <a:schemeClr val="tx1"/>
                </a:solidFill>
              </a:rPr>
              <a:t>About 1/3 of targets need little rail travel (&lt; 40 J); the rest need a long rail move.</a:t>
            </a:r>
            <a:endParaRPr lang="en-US" sz="1500" dirty="0"/>
          </a:p>
          <a:p>
            <a:pPr indent="0" marL="0">
              <a:spcAft>
                <a:spcPts val="1000"/>
              </a:spcAft>
              <a:buNone/>
            </a:pPr>
            <a:r>
              <a:rPr lang="en-US" sz="1500" dirty="0">
                <a:solidFill>
                  <a:schemeClr val="tx1"/>
                </a:solidFill>
              </a:rPr>
              <a:t>The median falls in the gap between the two clusters, so medians are fragile (ours: 48.5 vs 56.2 J middle values).</a:t>
            </a:r>
            <a:endParaRPr lang="en-US" sz="1500" dirty="0"/>
          </a:p>
          <a:p>
            <a:pPr indent="0" marL="0">
              <a:spcAft>
                <a:spcPts val="1000"/>
              </a:spcAft>
              <a:buNone/>
            </a:pPr>
            <a:r>
              <a:rPr lang="en-US" sz="1500" dirty="0">
                <a:solidFill>
                  <a:schemeClr val="tx1"/>
                </a:solidFill>
              </a:rPr>
              <a:t>Paired median still favours ours: −0.37 J vs nearest, −0.34 J vs random.</a:t>
            </a:r>
            <a:endParaRPr lang="en-US" sz="1500" dirty="0"/>
          </a:p>
          <a:p>
            <a:pPr indent="0" marL="0">
              <a:spcAft>
                <a:spcPts val="1000"/>
              </a:spcAft>
              <a:buNone/>
            </a:pPr>
            <a:r>
              <a:rPr lang="en-US" sz="1500" dirty="0">
                <a:solidFill>
                  <a:schemeClr val="tx1"/>
                </a:solidFill>
              </a:rPr>
              <a:t>26/56 near-ties; the mean gain comes from large savings: 5 targets save &gt; 20 J, only 2 lose &gt; 20 J.</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EnergyAwareSCIS">
  <a:themeElements>
    <a:clrScheme name="EnergyAwareSCIS">
      <a:dk1>
        <a:srgbClr val="1A1A1A"/>
      </a:dk1>
      <a:lt1>
        <a:srgbClr val="FFFFFF"/>
      </a:lt1>
      <a:dk2>
        <a:srgbClr val="1F3A5F"/>
      </a:dk2>
      <a:lt2>
        <a:srgbClr val="EEF1F5"/>
      </a:lt2>
      <a:accent1>
        <a:srgbClr val="1F3A5F"/>
      </a:accent1>
      <a:accent2>
        <a:srgbClr val="8A8F98"/>
      </a:accent2>
      <a:accent3>
        <a:srgbClr val="C9CED6"/>
      </a:accent3>
      <a:accent4>
        <a:srgbClr val="3D6A99"/>
      </a:accent4>
      <a:accent5>
        <a:srgbClr val="5C5C5C"/>
      </a:accent5>
      <a:accent6>
        <a:srgbClr val="B03A2E"/>
      </a:accent6>
      <a:hlink>
        <a:srgbClr val="1F3A5F"/>
      </a:hlink>
      <a:folHlink>
        <a:srgbClr val="5C5C5C"/>
      </a:folHlink>
    </a:clrScheme>
    <a:fontScheme name="EnergyAwareSCI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Energy-Aware Arm and Base Selection for a Dual-Gantry Quad-Arm Ceiling Robot</dc:title>
  <dc:subject>PptxGenJS Presentation</dc:subject>
  <dc:creator>Raditya Artha Rochmanto</dc:creator>
  <cp:lastModifiedBy>Raditya Artha Rochmanto</cp:lastModifiedBy>
  <cp:revision>1</cp:revision>
  <dcterms:created xsi:type="dcterms:W3CDTF">2026-10-25T08:07:30Z</dcterms:created>
  <dcterms:modified xsi:type="dcterms:W3CDTF">2026-10-25T08:07:30Z</dcterms:modified>
</cp:coreProperties>
</file>